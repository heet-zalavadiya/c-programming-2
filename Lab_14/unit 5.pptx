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ink/ink1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580" r:id="rId2"/>
    <p:sldId id="581" r:id="rId3"/>
    <p:sldId id="286" r:id="rId4"/>
    <p:sldId id="287" r:id="rId5"/>
    <p:sldId id="535" r:id="rId6"/>
    <p:sldId id="553" r:id="rId7"/>
    <p:sldId id="554" r:id="rId8"/>
    <p:sldId id="555" r:id="rId9"/>
    <p:sldId id="556" r:id="rId10"/>
    <p:sldId id="557" r:id="rId11"/>
    <p:sldId id="552" r:id="rId12"/>
    <p:sldId id="558" r:id="rId13"/>
    <p:sldId id="560" r:id="rId14"/>
    <p:sldId id="561" r:id="rId15"/>
    <p:sldId id="562" r:id="rId16"/>
    <p:sldId id="563" r:id="rId17"/>
    <p:sldId id="564" r:id="rId18"/>
    <p:sldId id="565" r:id="rId19"/>
    <p:sldId id="566" r:id="rId20"/>
    <p:sldId id="567" r:id="rId21"/>
    <p:sldId id="568" r:id="rId22"/>
    <p:sldId id="569" r:id="rId23"/>
    <p:sldId id="570" r:id="rId24"/>
    <p:sldId id="571" r:id="rId25"/>
    <p:sldId id="572" r:id="rId26"/>
    <p:sldId id="573" r:id="rId27"/>
    <p:sldId id="574" r:id="rId28"/>
    <p:sldId id="575" r:id="rId29"/>
    <p:sldId id="576" r:id="rId30"/>
    <p:sldId id="577" r:id="rId31"/>
    <p:sldId id="578" r:id="rId32"/>
    <p:sldId id="579" r:id="rId33"/>
    <p:sldId id="58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9+3YcczSBFJ71F2yONivFg==" hashData="4vZ9nw0SXsFYdi1FAkn21RJt1hCDX02EsQVpVocTq4TSAiAeI/7Skr+IrRcxrnOhSNRk9vE3skSw81oG1bn4RA=="/>
  <p:extLst>
    <p:ext uri="{521415D9-36F7-43E2-AB2F-B90AF26B5E84}">
      <p14:sectionLst xmlns:p14="http://schemas.microsoft.com/office/powerpoint/2010/main">
        <p14:section name="Default Section" id="{66779A29-97DC-4E92-A70E-5FA0C5AFE649}">
          <p14:sldIdLst>
            <p14:sldId id="580"/>
            <p14:sldId id="581"/>
          </p14:sldIdLst>
        </p14:section>
        <p14:section name="Introduction of File Management" id="{E452BCBE-BE13-469C-9023-F77F574D6FB4}">
          <p14:sldIdLst>
            <p14:sldId id="286"/>
            <p14:sldId id="287"/>
            <p14:sldId id="535"/>
          </p14:sldIdLst>
        </p14:section>
        <p14:section name="File Handling Modes and File Opening and Closing Function" id="{07EAE1CD-F370-4D8C-801E-B9A1363202DF}">
          <p14:sldIdLst>
            <p14:sldId id="553"/>
            <p14:sldId id="554"/>
            <p14:sldId id="555"/>
            <p14:sldId id="556"/>
            <p14:sldId id="557"/>
            <p14:sldId id="552"/>
          </p14:sldIdLst>
        </p14:section>
        <p14:section name="I/O operations on File" id="{1396887D-F36F-43B7-A6F9-E2CD1A81F02F}">
          <p14:sldIdLst>
            <p14:sldId id="558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</p14:sldIdLst>
        </p14:section>
        <p14:section name="Error Handling and Random access Functions" id="{669CB3A6-47B1-4605-AAEF-FE29C3F0DBA8}">
          <p14:sldIdLst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</p14:sldIdLst>
        </p14:section>
        <p14:section name="Command Line Arguments" id="{9748BEB3-2216-4250-8E56-CCD4751474DF}">
          <p14:sldIdLst>
            <p14:sldId id="577"/>
            <p14:sldId id="578"/>
            <p14:sldId id="579"/>
            <p14:sldId id="5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71E3F"/>
    <a:srgbClr val="607D8B"/>
    <a:srgbClr val="1D6BA5"/>
    <a:srgbClr val="ED524F"/>
    <a:srgbClr val="1D3064"/>
    <a:srgbClr val="301B92"/>
    <a:srgbClr val="673BB7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394" autoAdjust="0"/>
  </p:normalViewPr>
  <p:slideViewPr>
    <p:cSldViewPr snapToGrid="0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218C1C-969C-4E59-8027-1BA3F0D38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ADB10-FD95-4CEB-98E7-4FA837CE4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433-EE2A-41B9-BA56-D2396856AE90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D3071-CA2D-4040-8804-09E92AEBF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4A6F-F650-4C9C-829F-3B9F190B18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52D4-162F-44F0-919A-0F008E6096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972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1:06:3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32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5CFAC-3AD3-4F0A-9168-2613BFEAE06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672" y="2062801"/>
            <a:ext cx="1786910" cy="178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F738263-46D4-4D28-9615-BF958908128D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834F009-928D-4C38-9AD3-82B36C109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7822" y="57877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397" y="1708494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D71E3F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C639A-5CC9-4FBB-A197-82D7D8F34BCB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DCC7DC-434D-4ADE-9AA5-73DBFABF63FB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F1B25E3-830F-4191-9F6A-E15558F3AD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445" y="56450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8836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F378B-2717-4CC6-8D60-EB80E7F49B9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E3EB7C-00B2-8673-FFB8-CF9FCD0DE2B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D2F-EE6F-49DE-8EB6-A96F88CA571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79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39AD70-C713-B458-F198-C42F6980DFC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127DF-19C1-4A8F-B876-99D5A90C0F01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9175" y="620443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EFF2C-1636-48DB-9A77-5FC33CF265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6067" y="251748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D100B5A-8D79-7BF8-7301-4561A8F6D9A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3A39-E5FB-4C14-8A43-2D8FDDB0AE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2620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22AA22-73F0-88C3-DD63-849F267649F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A07D-EEE5-4EBD-8B95-4427C001AF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257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82D9DB-2DF9-48A5-7C9F-0FF9328AA16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1672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0C19C1-CCA6-41F8-A349-518437B526D1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BA9B2-A383-4E11-A930-79C7DB84C0F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8632C7-07EE-4F9C-8233-02B02E8C89FC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4D06A-C8AF-409A-8F19-BD778E4BEE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2825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B3427B-188B-4900-B48F-E5B9881624A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93E28D-CBE0-4383-909A-4B382FCB3BB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230D6A-1241-4E5B-AD95-3F0026D5E34F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1CFAB5-CC50-4C38-A8CE-5AC7B6E8E1C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78922" cy="3167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191BDD-BF92-4D48-981F-D834B1E0038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74553B-F83C-4887-85F5-95F2B31139E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9"/>
            <a:ext cx="3978922" cy="2760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71190-A77B-4209-A80E-DB5A272B680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25EBB8-3E85-4844-8CD8-558634DD557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D1D986-F272-40AD-8E4B-CBC6109210A2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45C481-A049-4E89-826C-ECC2C2D424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054B27E-47BE-45D8-88E7-9B920FD79C18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5063E3-29C7-4F1C-940C-E84E1B1B8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66222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4F4DA2-7990-4DAE-B9F6-ADB27BC53AD4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99D394-A04E-49DA-BC5A-159DB5374E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CA93B0-CE72-48B1-821C-85BCEA5255C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4C881B-3C61-4232-9E01-4D5A6453447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74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544380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dirty="0"/>
              <a:t>File Management</a:t>
            </a:r>
            <a:endParaRPr lang="en-US" sz="7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82206" y="0"/>
            <a:ext cx="4646358" cy="734653"/>
          </a:xfrm>
        </p:spPr>
        <p:txBody>
          <a:bodyPr/>
          <a:lstStyle/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– I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7B1F5C9-B8D4-46F1-9C51-0EB595CDD8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2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28727" y="629393"/>
            <a:ext cx="75132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 smtClean="0">
                <a:solidFill>
                  <a:srgbClr val="AD1457"/>
                </a:solidFill>
              </a:rPr>
              <a:t>Outline</a:t>
            </a:r>
            <a:endParaRPr lang="en-US" sz="2100" dirty="0">
              <a:solidFill>
                <a:srgbClr val="424242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Introduction of File Management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File Handling Modes and File Opening and Closing Function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I/O operations on File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Error Handling and Random access Functions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Command Line Arguments</a:t>
            </a:r>
          </a:p>
        </p:txBody>
      </p:sp>
    </p:spTree>
    <p:extLst>
      <p:ext uri="{BB962C8B-B14F-4D97-AF65-F5344CB8AC3E}">
        <p14:creationId xmlns:p14="http://schemas.microsoft.com/office/powerpoint/2010/main" val="321544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Introduction of File Management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</a:t>
            </a:r>
          </a:p>
        </p:txBody>
      </p:sp>
    </p:spTree>
    <p:extLst>
      <p:ext uri="{BB962C8B-B14F-4D97-AF65-F5344CB8AC3E}">
        <p14:creationId xmlns:p14="http://schemas.microsoft.com/office/powerpoint/2010/main" val="118000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Sometimes, it is not enough to only display the data on the terminal.</a:t>
            </a:r>
          </a:p>
          <a:p>
            <a:r>
              <a:rPr lang="en-GB" dirty="0" smtClean="0"/>
              <a:t>If </a:t>
            </a:r>
            <a:r>
              <a:rPr lang="en-GB" dirty="0"/>
              <a:t>you have to enter a large number of data, it will take a lot of time to enter them all.</a:t>
            </a:r>
            <a:endParaRPr lang="en-US" dirty="0"/>
          </a:p>
          <a:p>
            <a:pPr lvl="0"/>
            <a:r>
              <a:rPr lang="en-GB" dirty="0"/>
              <a:t>But in the real word, most programs are written to store the information fetched from the program.</a:t>
            </a:r>
          </a:p>
          <a:p>
            <a:r>
              <a:rPr lang="en-GB" dirty="0"/>
              <a:t>However, if you have a file containing all the data, you can easily access the contents of the file using a few commands in C.</a:t>
            </a:r>
          </a:p>
          <a:p>
            <a:pPr lvl="0"/>
            <a:r>
              <a:rPr lang="en-GB" dirty="0"/>
              <a:t>File handling in C enables us to create, update, read, and delete the files stored on the local file system through our C program.</a:t>
            </a: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07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Files can be categorized into two types based on the way the file stores the data.</a:t>
            </a:r>
            <a:endParaRPr lang="en-US" dirty="0"/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24D97F-04C5-EB13-1C80-7B39C1C91DB2}"/>
              </a:ext>
            </a:extLst>
          </p:cNvPr>
          <p:cNvSpPr/>
          <p:nvPr/>
        </p:nvSpPr>
        <p:spPr>
          <a:xfrm>
            <a:off x="3332547" y="1454178"/>
            <a:ext cx="2402006" cy="2202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1. Text Files</a:t>
            </a:r>
            <a:endParaRPr lang="en-IN" sz="28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9720A8-E9DF-2015-D469-7CCBF0FFF5E9}"/>
                  </a:ext>
                </a:extLst>
              </p14:cNvPr>
              <p14:cNvContentPartPr/>
              <p14:nvPr/>
            </p14:nvContentPartPr>
            <p14:xfrm>
              <a:off x="7287593" y="260639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9720A8-E9DF-2015-D469-7CCBF0FFF5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8593" y="259739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1BDA70-EC11-C031-2EA0-7D1CD301F2BD}"/>
              </a:ext>
            </a:extLst>
          </p:cNvPr>
          <p:cNvSpPr/>
          <p:nvPr/>
        </p:nvSpPr>
        <p:spPr>
          <a:xfrm>
            <a:off x="6206368" y="1454178"/>
            <a:ext cx="2402006" cy="2202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2. Binary Files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1CCB093-4D4F-5C29-A5A0-FC47FD54491B}"/>
              </a:ext>
            </a:extLst>
          </p:cNvPr>
          <p:cNvSpPr/>
          <p:nvPr/>
        </p:nvSpPr>
        <p:spPr>
          <a:xfrm>
            <a:off x="131179" y="4094328"/>
            <a:ext cx="4249752" cy="2359681"/>
          </a:xfrm>
          <a:prstGeom prst="wedgeRoundRectCallout">
            <a:avLst>
              <a:gd name="adj1" fmla="val 47150"/>
              <a:gd name="adj2" fmla="val -6781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text file </a:t>
            </a:r>
            <a:r>
              <a:rPr lang="en-GB" sz="1600" dirty="0">
                <a:solidFill>
                  <a:schemeClr val="tx1"/>
                </a:solidFill>
              </a:rPr>
              <a:t>contains data in the form of ASCII characters and is generally used to store a stream of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Each line in a text file ends with a new line character (‘\n’).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It can be read or written by any text editor.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They are generally stored with .txt file extension.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A3D1E30-B0A8-4E5A-7764-AA1798F2DBA1}"/>
              </a:ext>
            </a:extLst>
          </p:cNvPr>
          <p:cNvSpPr/>
          <p:nvPr/>
        </p:nvSpPr>
        <p:spPr>
          <a:xfrm>
            <a:off x="7653370" y="4094327"/>
            <a:ext cx="4249752" cy="2359681"/>
          </a:xfrm>
          <a:prstGeom prst="wedgeRoundRectCallout">
            <a:avLst>
              <a:gd name="adj1" fmla="val -47908"/>
              <a:gd name="adj2" fmla="val -6781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binary file </a:t>
            </a:r>
            <a:r>
              <a:rPr lang="en-GB" sz="1600" dirty="0">
                <a:solidFill>
                  <a:schemeClr val="tx1"/>
                </a:solidFill>
              </a:rPr>
              <a:t>contains data in binary form (i.e. 0’s and 1’s) instead of ASCII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 binary files can be created only from within a program and their contents can only be read by a program.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More secure as they are not easily readable.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They are generally stored with .bin file extension.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32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9DEC-A00D-B80A-3474-48D7073B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C7D09-B728-DA16-50A1-941B093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File Handling Modes and File Opening and Closing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F0C08-0F04-4174-D479-C68177B48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</a:t>
            </a:r>
          </a:p>
        </p:txBody>
      </p:sp>
    </p:spTree>
    <p:extLst>
      <p:ext uri="{BB962C8B-B14F-4D97-AF65-F5344CB8AC3E}">
        <p14:creationId xmlns:p14="http://schemas.microsoft.com/office/powerpoint/2010/main" val="263254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A7E6-6831-0CA2-EF1B-906D18AE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5701A7D-7556-B789-8C41-27249BAC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Operations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0AA424-248E-9EAC-DAD6-1C4825382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 following operations can be performed on a file;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Creating a new file – </a:t>
            </a:r>
            <a:r>
              <a:rPr lang="en-GB" b="1" dirty="0">
                <a:solidFill>
                  <a:srgbClr val="C00000"/>
                </a:solidFill>
              </a:rPr>
              <a:t>fopen() with attributes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Opening an existing file –</a:t>
            </a:r>
            <a:r>
              <a:rPr lang="en-GB" b="1" dirty="0">
                <a:solidFill>
                  <a:srgbClr val="C00000"/>
                </a:solidFill>
              </a:rPr>
              <a:t> fopen()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Reading from file – </a:t>
            </a:r>
            <a:r>
              <a:rPr lang="en-GB" b="1" dirty="0" err="1">
                <a:solidFill>
                  <a:srgbClr val="C00000"/>
                </a:solidFill>
              </a:rPr>
              <a:t>fscanf</a:t>
            </a:r>
            <a:r>
              <a:rPr lang="en-GB" b="1" dirty="0">
                <a:solidFill>
                  <a:srgbClr val="C00000"/>
                </a:solidFill>
              </a:rPr>
              <a:t>() or </a:t>
            </a:r>
            <a:r>
              <a:rPr lang="en-GB" b="1" dirty="0" err="1">
                <a:solidFill>
                  <a:srgbClr val="C00000"/>
                </a:solidFill>
              </a:rPr>
              <a:t>fgets</a:t>
            </a:r>
            <a:r>
              <a:rPr lang="en-GB" b="1" dirty="0">
                <a:solidFill>
                  <a:srgbClr val="C00000"/>
                </a:solidFill>
              </a:rPr>
              <a:t>()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Writing to a file – </a:t>
            </a:r>
            <a:r>
              <a:rPr lang="en-GB" b="1" dirty="0" err="1">
                <a:solidFill>
                  <a:srgbClr val="C00000"/>
                </a:solidFill>
              </a:rPr>
              <a:t>fprintf</a:t>
            </a:r>
            <a:r>
              <a:rPr lang="en-GB" b="1" dirty="0">
                <a:solidFill>
                  <a:srgbClr val="C00000"/>
                </a:solidFill>
              </a:rPr>
              <a:t>() or </a:t>
            </a:r>
            <a:r>
              <a:rPr lang="en-GB" b="1" dirty="0" err="1">
                <a:solidFill>
                  <a:srgbClr val="C00000"/>
                </a:solidFill>
              </a:rPr>
              <a:t>fputs</a:t>
            </a:r>
            <a:r>
              <a:rPr lang="en-GB" b="1" dirty="0">
                <a:solidFill>
                  <a:srgbClr val="C00000"/>
                </a:solidFill>
              </a:rPr>
              <a:t>()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Moving to a specific location – </a:t>
            </a:r>
            <a:r>
              <a:rPr lang="en-GB" b="1" dirty="0" err="1">
                <a:solidFill>
                  <a:srgbClr val="C00000"/>
                </a:solidFill>
              </a:rPr>
              <a:t>fseek</a:t>
            </a:r>
            <a:r>
              <a:rPr lang="en-GB" b="1" dirty="0">
                <a:solidFill>
                  <a:srgbClr val="C00000"/>
                </a:solidFill>
              </a:rPr>
              <a:t>() and rewind()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Closing a file – </a:t>
            </a:r>
            <a:r>
              <a:rPr lang="en-GB" b="1" dirty="0" err="1" smtClean="0">
                <a:solidFill>
                  <a:srgbClr val="C00000"/>
                </a:solidFill>
              </a:rPr>
              <a:t>fclose</a:t>
            </a:r>
            <a:r>
              <a:rPr lang="en-GB" b="1" dirty="0">
                <a:solidFill>
                  <a:srgbClr val="C00000"/>
                </a:solidFill>
              </a:rPr>
              <a:t>() </a:t>
            </a:r>
          </a:p>
          <a:p>
            <a:pPr marL="457200" lvl="0" indent="-457200">
              <a:buFont typeface="+mj-lt"/>
              <a:buAutoNum type="arabicPeriod"/>
            </a:pPr>
            <a:endParaRPr lang="en-GB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8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F9D0-5514-4DB1-6ED8-96C21560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50778B-9879-111C-74C9-D21F7FBC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Pointer in C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85DF0A9-BA8B-20FD-21A9-2070FC2C7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When working with files, you need to declare a pointer of type file. This declaration is needed for communication between the file and the program.</a:t>
            </a:r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We use the </a:t>
            </a:r>
            <a:r>
              <a:rPr lang="en-GB" b="1" dirty="0"/>
              <a:t>FILE macro </a:t>
            </a:r>
            <a:r>
              <a:rPr lang="en-GB" dirty="0"/>
              <a:t>to declare the file pointer variable.</a:t>
            </a:r>
          </a:p>
          <a:p>
            <a:r>
              <a:rPr lang="en-GB" dirty="0"/>
              <a:t>The </a:t>
            </a:r>
            <a:r>
              <a:rPr lang="en-GB" b="1" dirty="0"/>
              <a:t>FILE macro </a:t>
            </a:r>
            <a:r>
              <a:rPr lang="en-GB" dirty="0"/>
              <a:t>is defined inside </a:t>
            </a:r>
            <a:r>
              <a:rPr lang="en-GB" b="1" dirty="0"/>
              <a:t>&lt;</a:t>
            </a:r>
            <a:r>
              <a:rPr lang="en-GB" b="1" dirty="0" err="1"/>
              <a:t>stdio.h</a:t>
            </a:r>
            <a:r>
              <a:rPr lang="en-GB" b="1" dirty="0"/>
              <a:t>&gt; </a:t>
            </a:r>
            <a:r>
              <a:rPr lang="en-GB" dirty="0"/>
              <a:t>header file.</a:t>
            </a:r>
            <a:endParaRPr lang="en-US" dirty="0"/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r>
              <a:rPr lang="en-GB" dirty="0"/>
              <a:t>File Pointer is used in almost all the file operations in C.</a:t>
            </a:r>
          </a:p>
          <a:p>
            <a:r>
              <a:rPr lang="en-GB" dirty="0"/>
              <a:t>We must open a file before it can be read, write, or update. The </a:t>
            </a:r>
            <a:r>
              <a:rPr lang="en-GB" b="1" dirty="0">
                <a:solidFill>
                  <a:srgbClr val="C00000"/>
                </a:solidFill>
              </a:rPr>
              <a:t>fopen() </a:t>
            </a:r>
            <a:r>
              <a:rPr lang="en-GB" dirty="0"/>
              <a:t>function is used to open a file. </a:t>
            </a:r>
          </a:p>
          <a:p>
            <a:r>
              <a:rPr lang="en-GB" b="1" dirty="0">
                <a:solidFill>
                  <a:srgbClr val="C00000"/>
                </a:solidFill>
              </a:rPr>
              <a:t>Syntax of the fopen()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6E95B8-B899-FEC6-8B60-0492F0549E6E}"/>
              </a:ext>
            </a:extLst>
          </p:cNvPr>
          <p:cNvSpPr txBox="1"/>
          <p:nvPr/>
        </p:nvSpPr>
        <p:spPr>
          <a:xfrm>
            <a:off x="1337481" y="2964134"/>
            <a:ext cx="2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FILE *</a:t>
            </a:r>
            <a:r>
              <a:rPr lang="en-GB" b="1" dirty="0" err="1"/>
              <a:t>pointer_name</a:t>
            </a:r>
            <a:r>
              <a:rPr lang="en-GB" b="1" dirty="0"/>
              <a:t>;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79B13-EFA1-FF27-BEED-3E554737C272}"/>
              </a:ext>
            </a:extLst>
          </p:cNvPr>
          <p:cNvSpPr txBox="1"/>
          <p:nvPr/>
        </p:nvSpPr>
        <p:spPr>
          <a:xfrm>
            <a:off x="1337481" y="5249489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FILE *fopen(</a:t>
            </a:r>
            <a:r>
              <a:rPr lang="en-GB" b="1" dirty="0" err="1">
                <a:solidFill>
                  <a:srgbClr val="C00000"/>
                </a:solidFill>
              </a:rPr>
              <a:t>const</a:t>
            </a:r>
            <a:r>
              <a:rPr lang="en-GB" b="1" dirty="0">
                <a:solidFill>
                  <a:srgbClr val="C00000"/>
                </a:solidFill>
              </a:rPr>
              <a:t> char*</a:t>
            </a:r>
            <a:r>
              <a:rPr lang="en-GB" b="1" dirty="0" err="1">
                <a:solidFill>
                  <a:srgbClr val="C00000"/>
                </a:solidFill>
              </a:rPr>
              <a:t>file_name</a:t>
            </a:r>
            <a:r>
              <a:rPr lang="en-GB" b="1" dirty="0"/>
              <a:t>, </a:t>
            </a:r>
            <a:r>
              <a:rPr lang="en-GB" b="1" dirty="0" err="1">
                <a:solidFill>
                  <a:srgbClr val="C00000"/>
                </a:solidFill>
              </a:rPr>
              <a:t>const</a:t>
            </a:r>
            <a:r>
              <a:rPr lang="en-GB" b="1" dirty="0">
                <a:solidFill>
                  <a:srgbClr val="C00000"/>
                </a:solidFill>
              </a:rPr>
              <a:t> char*</a:t>
            </a:r>
            <a:r>
              <a:rPr lang="en-GB" b="1" dirty="0" err="1">
                <a:solidFill>
                  <a:srgbClr val="C00000"/>
                </a:solidFill>
              </a:rPr>
              <a:t>handling_mode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3C64FEC-C22D-05B4-5D39-3225D7C8392E}"/>
              </a:ext>
            </a:extLst>
          </p:cNvPr>
          <p:cNvSpPr/>
          <p:nvPr/>
        </p:nvSpPr>
        <p:spPr>
          <a:xfrm>
            <a:off x="256659" y="5934911"/>
            <a:ext cx="7345144" cy="577580"/>
          </a:xfrm>
          <a:prstGeom prst="wedgeRoundRectCallout">
            <a:avLst>
              <a:gd name="adj1" fmla="val -3053"/>
              <a:gd name="adj2" fmla="val -1221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C00000"/>
                </a:solidFill>
              </a:rPr>
              <a:t>file_name</a:t>
            </a:r>
            <a:r>
              <a:rPr lang="en-GB" sz="1600" b="1" dirty="0">
                <a:solidFill>
                  <a:srgbClr val="C00000"/>
                </a:solidFill>
              </a:rPr>
              <a:t>: </a:t>
            </a:r>
            <a:r>
              <a:rPr lang="en-GB" sz="1600" dirty="0">
                <a:solidFill>
                  <a:schemeClr val="tx1"/>
                </a:solidFill>
              </a:rPr>
              <a:t>name of the file when present in the same directory as the source file. else full path. </a:t>
            </a:r>
            <a:r>
              <a:rPr lang="en-GB" sz="1600" i="1" dirty="0">
                <a:solidFill>
                  <a:schemeClr val="tx1"/>
                </a:solidFill>
              </a:rPr>
              <a:t>(For Example; c://CP2/demo.txt)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3EACE-08E7-0B54-4C2D-62D637A80151}"/>
              </a:ext>
            </a:extLst>
          </p:cNvPr>
          <p:cNvSpPr txBox="1"/>
          <p:nvPr/>
        </p:nvSpPr>
        <p:spPr>
          <a:xfrm>
            <a:off x="7124133" y="4579456"/>
            <a:ext cx="682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C00000"/>
                </a:solidFill>
                <a:sym typeface="Webdings" panose="05030102010509060703" pitchFamily="18" charset="2"/>
              </a:rPr>
              <a:t></a:t>
            </a:r>
            <a:endParaRPr lang="en-IN" sz="4000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92FB58-D660-260D-6711-0830F8E7E162}"/>
              </a:ext>
            </a:extLst>
          </p:cNvPr>
          <p:cNvGrpSpPr/>
          <p:nvPr/>
        </p:nvGrpSpPr>
        <p:grpSpPr>
          <a:xfrm>
            <a:off x="5404513" y="4933399"/>
            <a:ext cx="1760563" cy="316090"/>
            <a:chOff x="5404513" y="4933399"/>
            <a:chExt cx="1760563" cy="31609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BC8225B-972A-8E99-04E0-80D1972D85F8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83415D3-FD3C-1CEB-9A74-FDDC0867207A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41F4756-8FB8-6FD1-7E88-12DC2EB1C0EC}"/>
              </a:ext>
            </a:extLst>
          </p:cNvPr>
          <p:cNvSpPr txBox="1"/>
          <p:nvPr/>
        </p:nvSpPr>
        <p:spPr>
          <a:xfrm>
            <a:off x="8420669" y="4426186"/>
            <a:ext cx="3640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If the file is opened successfully, returns a file pointer to it else it returns NULL.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C0BD1E-B9CB-412E-FE34-A8F8DF4B602A}"/>
              </a:ext>
            </a:extLst>
          </p:cNvPr>
          <p:cNvGrpSpPr/>
          <p:nvPr/>
        </p:nvGrpSpPr>
        <p:grpSpPr>
          <a:xfrm>
            <a:off x="3929231" y="4579456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C1B8DF5-A42F-EA89-0195-D9F0921B161B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AE1BE4-291C-AB28-521B-17B73AD3FD91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7917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5" grpId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9C94-2CE4-7A7B-A247-156B969D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F7A54F4-74F4-6AFC-F115-8D7D1CA0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Modes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6A8145-F323-1FD9-F102-7262E2561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File handling modes or access modes specify the allowed operations on the file to be opened.</a:t>
            </a:r>
          </a:p>
          <a:p>
            <a:pPr lvl="0"/>
            <a:r>
              <a:rPr lang="en-GB" dirty="0"/>
              <a:t>They are passed as an argument through fopen() function. Some of them are as below;</a:t>
            </a:r>
          </a:p>
          <a:p>
            <a:pPr marL="457200" lvl="0" indent="-457200">
              <a:buFont typeface="+mj-lt"/>
              <a:buAutoNum type="arabicPeriod"/>
            </a:pPr>
            <a:endParaRPr lang="en-GB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037590-E17D-0563-E1E5-3DAAB6B76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18310"/>
              </p:ext>
            </p:extLst>
          </p:nvPr>
        </p:nvGraphicFramePr>
        <p:xfrm>
          <a:off x="445065" y="1741655"/>
          <a:ext cx="11301863" cy="64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62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1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Opening Modes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ABCA51-D2CD-2C35-9790-15C770494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33135"/>
              </p:ext>
            </p:extLst>
          </p:nvPr>
        </p:nvGraphicFramePr>
        <p:xfrm>
          <a:off x="445068" y="2475057"/>
          <a:ext cx="1130186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first character in it.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cannot be opened fopen( ) returns NULL.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C1D223-5FC0-35B4-641B-FCB95B214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489944"/>
              </p:ext>
            </p:extLst>
          </p:nvPr>
        </p:nvGraphicFramePr>
        <p:xfrm>
          <a:off x="445067" y="3541701"/>
          <a:ext cx="1130186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Open for writing in text mode;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exists, its contents are overwritten. If the file doesn’t exist, a new file is created.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8DDD01-FB4F-1658-FBDA-9B2EFEBB1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978078"/>
              </p:ext>
            </p:extLst>
          </p:nvPr>
        </p:nvGraphicFramePr>
        <p:xfrm>
          <a:off x="445066" y="4608345"/>
          <a:ext cx="1130186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last character in it. If the file doesn’t exist, a new file is created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7447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CBD0-2F4E-45A0-9073-5EAFF5877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BF4E1EC-1343-3D4E-6644-9C654750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Modes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CEEF7E-814B-E288-C1E4-C09C8733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r>
              <a:rPr lang="en-GB" b="1" dirty="0">
                <a:solidFill>
                  <a:srgbClr val="C00000"/>
                </a:solidFill>
              </a:rPr>
              <a:t>NOTE : </a:t>
            </a:r>
            <a:r>
              <a:rPr lang="en-GB" b="1" dirty="0"/>
              <a:t>rb,wb,ab,</a:t>
            </a:r>
            <a:r>
              <a:rPr lang="en-GB" b="1" dirty="0" err="1"/>
              <a:t>rb</a:t>
            </a:r>
            <a:r>
              <a:rPr lang="en-GB" b="1" dirty="0"/>
              <a:t>+,</a:t>
            </a:r>
            <a:r>
              <a:rPr lang="en-GB" b="1" dirty="0" err="1"/>
              <a:t>wb</a:t>
            </a:r>
            <a:r>
              <a:rPr lang="en-GB" b="1" dirty="0"/>
              <a:t>+ and ab+ modes work with binary file.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5413DC-F63F-9784-4583-D4A4697FB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991430"/>
              </p:ext>
            </p:extLst>
          </p:nvPr>
        </p:nvGraphicFramePr>
        <p:xfrm>
          <a:off x="445067" y="863445"/>
          <a:ext cx="11301863" cy="64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62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1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Opening Modes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95EC59-C3F5-76BD-1EDC-161A054CF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051243"/>
              </p:ext>
            </p:extLst>
          </p:nvPr>
        </p:nvGraphicFramePr>
        <p:xfrm>
          <a:off x="445070" y="1596847"/>
          <a:ext cx="1130186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r+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first character in it.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cannot be opened fopen( ) returns NULL.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opens a text file in read and write both mode.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8E5F3B-4252-307A-95DA-6E0D78E2C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594162"/>
              </p:ext>
            </p:extLst>
          </p:nvPr>
        </p:nvGraphicFramePr>
        <p:xfrm>
          <a:off x="445069" y="2937811"/>
          <a:ext cx="1130186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w+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Open for writing in text mode;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exists, its contents are overwritten. If the file doesn’t exist, a new file is created.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opens a text file in read and write both mode.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1CA3FD-5150-D3EA-C706-C9A74410F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68781"/>
              </p:ext>
            </p:extLst>
          </p:nvPr>
        </p:nvGraphicFramePr>
        <p:xfrm>
          <a:off x="423801" y="4278784"/>
          <a:ext cx="11301863" cy="1463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a+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last character in it. If the file doesn’t exist, a new file is created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opens a text file in read and write both mode.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63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Opening and Closing Function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35F74-580A-FEC2-A430-A311B0C21426}"/>
              </a:ext>
            </a:extLst>
          </p:cNvPr>
          <p:cNvSpPr txBox="1"/>
          <p:nvPr/>
        </p:nvSpPr>
        <p:spPr>
          <a:xfrm>
            <a:off x="887103" y="123259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636BB-C9A6-D5D3-C0FE-A61E8B77DBC1}"/>
              </a:ext>
            </a:extLst>
          </p:cNvPr>
          <p:cNvSpPr txBox="1"/>
          <p:nvPr/>
        </p:nvSpPr>
        <p:spPr>
          <a:xfrm>
            <a:off x="887103" y="16661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1C12-6BBB-94D5-3D1F-FCA51609AD82}"/>
              </a:ext>
            </a:extLst>
          </p:cNvPr>
          <p:cNvSpPr txBox="1"/>
          <p:nvPr/>
        </p:nvSpPr>
        <p:spPr>
          <a:xfrm>
            <a:off x="887103" y="210007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4F8D-01A7-1684-C90A-D072517654FE}"/>
              </a:ext>
            </a:extLst>
          </p:cNvPr>
          <p:cNvSpPr txBox="1"/>
          <p:nvPr/>
        </p:nvSpPr>
        <p:spPr>
          <a:xfrm>
            <a:off x="887103" y="624592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CA237-A665-7FF4-4FF0-9C0DBD91CC0C}"/>
              </a:ext>
            </a:extLst>
          </p:cNvPr>
          <p:cNvSpPr txBox="1"/>
          <p:nvPr/>
        </p:nvSpPr>
        <p:spPr>
          <a:xfrm>
            <a:off x="1367046" y="253925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D8F-1669-1276-2419-0D8DDC6167E9}"/>
              </a:ext>
            </a:extLst>
          </p:cNvPr>
          <p:cNvSpPr txBox="1"/>
          <p:nvPr/>
        </p:nvSpPr>
        <p:spPr>
          <a:xfrm>
            <a:off x="1367046" y="29438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hello.txt","w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D741E-EE1E-013A-3404-0E43F74183DD}"/>
              </a:ext>
            </a:extLst>
          </p:cNvPr>
          <p:cNvSpPr txBox="1"/>
          <p:nvPr/>
        </p:nvSpPr>
        <p:spPr>
          <a:xfrm>
            <a:off x="1367046" y="339559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dirty="0" err="1"/>
              <a:t>fptr</a:t>
            </a:r>
            <a:r>
              <a:rPr lang="en-GB" dirty="0"/>
              <a:t>==NULL)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3FCB2-BCEE-C067-B233-49D82AD3D2DD}"/>
              </a:ext>
            </a:extLst>
          </p:cNvPr>
          <p:cNvSpPr txBox="1"/>
          <p:nvPr/>
        </p:nvSpPr>
        <p:spPr>
          <a:xfrm>
            <a:off x="1367046" y="370724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A49B7-920D-CB7E-4318-A4DBD30987CE}"/>
              </a:ext>
            </a:extLst>
          </p:cNvPr>
          <p:cNvSpPr txBox="1"/>
          <p:nvPr/>
        </p:nvSpPr>
        <p:spPr>
          <a:xfrm>
            <a:off x="1367045" y="439151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2193C-8352-4264-C85F-C746B801649E}"/>
              </a:ext>
            </a:extLst>
          </p:cNvPr>
          <p:cNvSpPr txBox="1"/>
          <p:nvPr/>
        </p:nvSpPr>
        <p:spPr>
          <a:xfrm>
            <a:off x="1683219" y="398759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("File Not Available");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64C1D-A49A-D07D-DB2B-77515AB77B2F}"/>
              </a:ext>
            </a:extLst>
          </p:cNvPr>
          <p:cNvSpPr txBox="1"/>
          <p:nvPr/>
        </p:nvSpPr>
        <p:spPr>
          <a:xfrm>
            <a:off x="1367045" y="472842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F525F5-EA08-42C6-5C04-F1434671836E}"/>
              </a:ext>
            </a:extLst>
          </p:cNvPr>
          <p:cNvSpPr txBox="1"/>
          <p:nvPr/>
        </p:nvSpPr>
        <p:spPr>
          <a:xfrm>
            <a:off x="1367045" y="504007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6849E4-1DF3-1C28-12B4-7DCF842A51D7}"/>
              </a:ext>
            </a:extLst>
          </p:cNvPr>
          <p:cNvSpPr txBox="1"/>
          <p:nvPr/>
        </p:nvSpPr>
        <p:spPr>
          <a:xfrm>
            <a:off x="1367044" y="572434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00C277-6042-C352-028B-A0C4829F40DE}"/>
              </a:ext>
            </a:extLst>
          </p:cNvPr>
          <p:cNvSpPr txBox="1"/>
          <p:nvPr/>
        </p:nvSpPr>
        <p:spPr>
          <a:xfrm>
            <a:off x="1683218" y="532042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("File is now available");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560DE-AF94-F1DC-7BC8-1525D635EA8D}"/>
              </a:ext>
            </a:extLst>
          </p:cNvPr>
          <p:cNvSpPr txBox="1"/>
          <p:nvPr/>
        </p:nvSpPr>
        <p:spPr>
          <a:xfrm>
            <a:off x="1367044" y="6059116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C9EA4-A892-2463-9B6F-61762FF2BDBA}"/>
              </a:ext>
            </a:extLst>
          </p:cNvPr>
          <p:cNvSpPr txBox="1"/>
          <p:nvPr/>
        </p:nvSpPr>
        <p:spPr>
          <a:xfrm>
            <a:off x="6933062" y="2208981"/>
            <a:ext cx="267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opens new or existing file.</a:t>
            </a: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580566-5540-3146-679A-D3A1BF1FA096}"/>
              </a:ext>
            </a:extLst>
          </p:cNvPr>
          <p:cNvGrpSpPr/>
          <p:nvPr/>
        </p:nvGrpSpPr>
        <p:grpSpPr>
          <a:xfrm>
            <a:off x="2441624" y="2393647"/>
            <a:ext cx="4491438" cy="616791"/>
            <a:chOff x="5404513" y="4933399"/>
            <a:chExt cx="1760563" cy="31609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B78C158-71BF-4D46-51BF-9191A2CAEA34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85BF991-C243-D6C5-75AF-D7BCD3AF1C65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0ECC7E7-E5BF-63F3-F567-5819DD6A133E}"/>
              </a:ext>
            </a:extLst>
          </p:cNvPr>
          <p:cNvSpPr txBox="1"/>
          <p:nvPr/>
        </p:nvSpPr>
        <p:spPr>
          <a:xfrm>
            <a:off x="6301563" y="5609528"/>
            <a:ext cx="267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closes the file.</a:t>
            </a:r>
            <a:endParaRPr lang="en-I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D7731A-2BEE-9DA3-BF68-361D656B00CD}"/>
              </a:ext>
            </a:extLst>
          </p:cNvPr>
          <p:cNvGrpSpPr/>
          <p:nvPr/>
        </p:nvGrpSpPr>
        <p:grpSpPr>
          <a:xfrm>
            <a:off x="1810125" y="5794194"/>
            <a:ext cx="4491438" cy="354325"/>
            <a:chOff x="5404513" y="4933399"/>
            <a:chExt cx="1760563" cy="31609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8E37A36-84A4-A035-70E3-98BEE60FA664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ADA5A38-43D7-1782-48F8-D53D1379BD87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8276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8" grpId="0"/>
      <p:bldP spid="25" grpId="0"/>
      <p:bldP spid="26" grpId="0"/>
      <p:bldP spid="27" grpId="0"/>
      <p:bldP spid="11" grpId="0"/>
      <p:bldP spid="12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B0A1-C3BC-FCDE-1BDA-29F6F0AC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A5AFF-D117-CF03-9EBC-BA6FC7C7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I/O operations on 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E07A4-34F1-DE97-7154-A72086333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</a:t>
            </a:r>
          </a:p>
        </p:txBody>
      </p:sp>
    </p:spTree>
    <p:extLst>
      <p:ext uri="{BB962C8B-B14F-4D97-AF65-F5344CB8AC3E}">
        <p14:creationId xmlns:p14="http://schemas.microsoft.com/office/powerpoint/2010/main" val="172646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0170-86F0-6C57-4E4B-2828738B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670A976-2E2A-35E4-11A2-BB18E30F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fgetc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41E9142-8326-BEF6-F4E1-96612D47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fgetc</a:t>
            </a:r>
            <a:r>
              <a:rPr lang="en-GB" b="1" dirty="0"/>
              <a:t>()</a:t>
            </a:r>
            <a:r>
              <a:rPr lang="en-GB" dirty="0"/>
              <a:t> is used to obtain input from a file single character at a time.</a:t>
            </a:r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This function returns the ASCII code of the character read by the function. It returns the character present at position indicated by file pointer.</a:t>
            </a:r>
          </a:p>
          <a:p>
            <a:r>
              <a:rPr lang="en-GB" dirty="0"/>
              <a:t>After reading the character, the file pointer is advanced to next character.</a:t>
            </a:r>
          </a:p>
          <a:p>
            <a:r>
              <a:rPr lang="en-GB" dirty="0"/>
              <a:t>If pointer is at end of file or if an error occurs EOF file is returned by this function</a:t>
            </a:r>
            <a:endParaRPr lang="en-US" dirty="0"/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one </a:t>
            </a:r>
            <a:r>
              <a:rPr lang="en-US" b="1" dirty="0"/>
              <a:t>hello.txt </a:t>
            </a:r>
            <a:r>
              <a:rPr lang="en-US" dirty="0"/>
              <a:t>file in the same directory and copy following content into that file.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FC74E-C97E-B084-ABDA-F3A0A169C675}"/>
              </a:ext>
            </a:extLst>
          </p:cNvPr>
          <p:cNvSpPr txBox="1"/>
          <p:nvPr/>
        </p:nvSpPr>
        <p:spPr>
          <a:xfrm>
            <a:off x="1274166" y="3757682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fgetc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7A624-08A3-9178-0659-C3BEE2F63311}"/>
              </a:ext>
            </a:extLst>
          </p:cNvPr>
          <p:cNvSpPr txBox="1"/>
          <p:nvPr/>
        </p:nvSpPr>
        <p:spPr>
          <a:xfrm>
            <a:off x="7124132" y="3019018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on which the operation is to be performed.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873AFA-BD7D-D68A-7E86-8F437D5F9A9A}"/>
              </a:ext>
            </a:extLst>
          </p:cNvPr>
          <p:cNvGrpSpPr/>
          <p:nvPr/>
        </p:nvGrpSpPr>
        <p:grpSpPr>
          <a:xfrm>
            <a:off x="2632694" y="3150114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31547E4-3D30-AEE7-D5A6-3E221B29E993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282D45-1AB6-65D8-D270-A638E06EE206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1845DD-6B4D-FA0C-6DD1-5CB256593548}"/>
              </a:ext>
            </a:extLst>
          </p:cNvPr>
          <p:cNvSpPr txBox="1"/>
          <p:nvPr/>
        </p:nvSpPr>
        <p:spPr>
          <a:xfrm>
            <a:off x="443295" y="4891024"/>
            <a:ext cx="299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i="1" dirty="0"/>
              <a:t>Hey My Name is Darshan.</a:t>
            </a:r>
          </a:p>
          <a:p>
            <a:pPr algn="just"/>
            <a:r>
              <a:rPr lang="en-GB" i="1" dirty="0"/>
              <a:t>I am Computer Engineer.</a:t>
            </a:r>
            <a:endParaRPr lang="en-IN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32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304-CAB5-4366-3BDF-70F55B61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C89A997-03D7-330F-F268-B188D2FF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fgetc</a:t>
            </a:r>
            <a:r>
              <a:rPr lang="en-US" dirty="0"/>
              <a:t>() Function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001B01D-2223-73A5-B9EB-7591A9A0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03C91-0EE6-01B5-EEFA-51831E7E4C63}"/>
              </a:ext>
            </a:extLst>
          </p:cNvPr>
          <p:cNvSpPr txBox="1"/>
          <p:nvPr/>
        </p:nvSpPr>
        <p:spPr>
          <a:xfrm>
            <a:off x="887103" y="123259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F9061F-272F-F800-B698-0C0F373E7363}"/>
              </a:ext>
            </a:extLst>
          </p:cNvPr>
          <p:cNvSpPr txBox="1"/>
          <p:nvPr/>
        </p:nvSpPr>
        <p:spPr>
          <a:xfrm>
            <a:off x="887103" y="158682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1FBBB-AEAA-2F99-43FE-F58E32C53A2B}"/>
              </a:ext>
            </a:extLst>
          </p:cNvPr>
          <p:cNvSpPr txBox="1"/>
          <p:nvPr/>
        </p:nvSpPr>
        <p:spPr>
          <a:xfrm>
            <a:off x="887102" y="190913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7F775-4891-7D1D-4334-7032F805B61D}"/>
              </a:ext>
            </a:extLst>
          </p:cNvPr>
          <p:cNvSpPr txBox="1"/>
          <p:nvPr/>
        </p:nvSpPr>
        <p:spPr>
          <a:xfrm>
            <a:off x="4970019" y="625449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D3F5D-82FD-1166-37D0-78C4D44FE8F5}"/>
              </a:ext>
            </a:extLst>
          </p:cNvPr>
          <p:cNvSpPr txBox="1"/>
          <p:nvPr/>
        </p:nvSpPr>
        <p:spPr>
          <a:xfrm>
            <a:off x="1085348" y="21952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534DE-40EC-72EC-928E-3B771007C803}"/>
              </a:ext>
            </a:extLst>
          </p:cNvPr>
          <p:cNvSpPr txBox="1"/>
          <p:nvPr/>
        </p:nvSpPr>
        <p:spPr>
          <a:xfrm>
            <a:off x="1085344" y="287618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CC0EE6-A388-7A7B-ED37-1DBB2D4AACF1}"/>
              </a:ext>
            </a:extLst>
          </p:cNvPr>
          <p:cNvSpPr txBox="1"/>
          <p:nvPr/>
        </p:nvSpPr>
        <p:spPr>
          <a:xfrm>
            <a:off x="1701420" y="385278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dirty="0" err="1"/>
              <a:t>fptr</a:t>
            </a:r>
            <a:r>
              <a:rPr lang="en-GB" dirty="0"/>
              <a:t>==NULL)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E911E-DEE6-5F20-D4E0-98BF78254EB6}"/>
              </a:ext>
            </a:extLst>
          </p:cNvPr>
          <p:cNvSpPr txBox="1"/>
          <p:nvPr/>
        </p:nvSpPr>
        <p:spPr>
          <a:xfrm>
            <a:off x="1701420" y="416443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7383EE-65E7-FCE1-36B0-B69C91A6C506}"/>
              </a:ext>
            </a:extLst>
          </p:cNvPr>
          <p:cNvSpPr txBox="1"/>
          <p:nvPr/>
        </p:nvSpPr>
        <p:spPr>
          <a:xfrm>
            <a:off x="1701419" y="498792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882D2-85F0-9354-2E1B-CFE071966975}"/>
              </a:ext>
            </a:extLst>
          </p:cNvPr>
          <p:cNvSpPr txBox="1"/>
          <p:nvPr/>
        </p:nvSpPr>
        <p:spPr>
          <a:xfrm>
            <a:off x="2017594" y="4444783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("File Not Available");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B11A9-C8DB-E28B-E57E-42BA2A977DB7}"/>
              </a:ext>
            </a:extLst>
          </p:cNvPr>
          <p:cNvSpPr txBox="1"/>
          <p:nvPr/>
        </p:nvSpPr>
        <p:spPr>
          <a:xfrm>
            <a:off x="5402985" y="303477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2234CB-69BB-CAA3-8983-91A08A47AE8D}"/>
              </a:ext>
            </a:extLst>
          </p:cNvPr>
          <p:cNvSpPr txBox="1"/>
          <p:nvPr/>
        </p:nvSpPr>
        <p:spPr>
          <a:xfrm>
            <a:off x="5402985" y="334642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90596-66C8-7934-C1F5-768156D7C444}"/>
              </a:ext>
            </a:extLst>
          </p:cNvPr>
          <p:cNvSpPr txBox="1"/>
          <p:nvPr/>
        </p:nvSpPr>
        <p:spPr>
          <a:xfrm>
            <a:off x="5402985" y="50656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B91757-383E-E5BF-F694-9BE990A46985}"/>
              </a:ext>
            </a:extLst>
          </p:cNvPr>
          <p:cNvSpPr txBox="1"/>
          <p:nvPr/>
        </p:nvSpPr>
        <p:spPr>
          <a:xfrm>
            <a:off x="5719159" y="3626768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ch</a:t>
            </a:r>
            <a:r>
              <a:rPr lang="en-IN" dirty="0"/>
              <a:t>=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fptr</a:t>
            </a:r>
            <a:r>
              <a:rPr lang="en-IN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05DC6-FEF8-3C21-39A8-0774EA9B2280}"/>
              </a:ext>
            </a:extLst>
          </p:cNvPr>
          <p:cNvSpPr txBox="1"/>
          <p:nvPr/>
        </p:nvSpPr>
        <p:spPr>
          <a:xfrm>
            <a:off x="5168263" y="6057775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E7C6F0-4ED6-D975-038D-E9BFA8981CC0}"/>
              </a:ext>
            </a:extLst>
          </p:cNvPr>
          <p:cNvSpPr txBox="1"/>
          <p:nvPr/>
        </p:nvSpPr>
        <p:spPr>
          <a:xfrm>
            <a:off x="2017593" y="4789146"/>
            <a:ext cx="181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break;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80A75-7613-7A7C-77E1-CAF4317AFCF0}"/>
              </a:ext>
            </a:extLst>
          </p:cNvPr>
          <p:cNvSpPr txBox="1"/>
          <p:nvPr/>
        </p:nvSpPr>
        <p:spPr>
          <a:xfrm>
            <a:off x="5719158" y="4040573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if(</a:t>
            </a:r>
            <a:r>
              <a:rPr lang="en-IN" dirty="0" err="1"/>
              <a:t>ch</a:t>
            </a:r>
            <a:r>
              <a:rPr lang="en-IN" dirty="0"/>
              <a:t>==EOF)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212AB-0F41-1D1C-410B-4F492DC44191}"/>
              </a:ext>
            </a:extLst>
          </p:cNvPr>
          <p:cNvSpPr txBox="1"/>
          <p:nvPr/>
        </p:nvSpPr>
        <p:spPr>
          <a:xfrm>
            <a:off x="6261530" y="4438521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break;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911711-3D44-0C71-CA2E-2B2C5687341C}"/>
              </a:ext>
            </a:extLst>
          </p:cNvPr>
          <p:cNvSpPr txBox="1"/>
          <p:nvPr/>
        </p:nvSpPr>
        <p:spPr>
          <a:xfrm>
            <a:off x="5719158" y="4807853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("%c",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289B75-F498-F2A4-2AEA-0150D0200CB5}"/>
              </a:ext>
            </a:extLst>
          </p:cNvPr>
          <p:cNvSpPr txBox="1"/>
          <p:nvPr/>
        </p:nvSpPr>
        <p:spPr>
          <a:xfrm>
            <a:off x="1085345" y="320312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while(1)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420DCA-8A91-294D-D6DD-F46F9C852011}"/>
              </a:ext>
            </a:extLst>
          </p:cNvPr>
          <p:cNvSpPr txBox="1"/>
          <p:nvPr/>
        </p:nvSpPr>
        <p:spPr>
          <a:xfrm>
            <a:off x="1085345" y="351477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F873CB-8326-101B-1FC4-3DB86F183FF4}"/>
              </a:ext>
            </a:extLst>
          </p:cNvPr>
          <p:cNvSpPr txBox="1"/>
          <p:nvPr/>
        </p:nvSpPr>
        <p:spPr>
          <a:xfrm>
            <a:off x="5168263" y="568753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B0089B-47E5-4BC6-1FBC-1EE687C830E2}"/>
              </a:ext>
            </a:extLst>
          </p:cNvPr>
          <p:cNvSpPr txBox="1"/>
          <p:nvPr/>
        </p:nvSpPr>
        <p:spPr>
          <a:xfrm>
            <a:off x="1085344" y="252668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ch</a:t>
            </a:r>
            <a:r>
              <a:rPr lang="en-GB" dirty="0"/>
              <a:t>;</a:t>
            </a:r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36FD120-268F-8C4D-6BA7-3871C72D6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530" y="1357834"/>
            <a:ext cx="5585740" cy="155592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FBC1014-EB05-485E-0201-51922995AD17}"/>
              </a:ext>
            </a:extLst>
          </p:cNvPr>
          <p:cNvSpPr txBox="1"/>
          <p:nvPr/>
        </p:nvSpPr>
        <p:spPr>
          <a:xfrm>
            <a:off x="6232707" y="892824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66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8" grpId="0"/>
      <p:bldP spid="25" grpId="0"/>
      <p:bldP spid="26" grpId="0"/>
      <p:bldP spid="27" grpId="0"/>
      <p:bldP spid="11" grpId="0"/>
      <p:bldP spid="24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FD5E-14E2-BC41-DB64-D39CECAB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49A62D-677F-5025-E643-15329E3E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fputc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9E2BC3-2413-F71D-698C-F331A6DF3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fputc</a:t>
            </a:r>
            <a:r>
              <a:rPr lang="en-GB" b="1" dirty="0"/>
              <a:t>()</a:t>
            </a:r>
            <a:r>
              <a:rPr lang="en-GB" dirty="0"/>
              <a:t> is used to write a single character at a time to a given file.</a:t>
            </a:r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It writes the given character at the position denoted by the file pointer and then advances the file pointer.</a:t>
            </a:r>
          </a:p>
          <a:p>
            <a:r>
              <a:rPr lang="en-GB" dirty="0"/>
              <a:t>This function returns the character that is written in case of successful write operation else in case of error EOF is returned.</a:t>
            </a: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E00E8-BB70-9BC8-40F0-6A6CBB829C4B}"/>
              </a:ext>
            </a:extLst>
          </p:cNvPr>
          <p:cNvSpPr txBox="1"/>
          <p:nvPr/>
        </p:nvSpPr>
        <p:spPr>
          <a:xfrm>
            <a:off x="1274166" y="3757682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fputc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int char, 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E4FA9-A477-9795-7FEB-42FDB7192694}"/>
              </a:ext>
            </a:extLst>
          </p:cNvPr>
          <p:cNvSpPr txBox="1"/>
          <p:nvPr/>
        </p:nvSpPr>
        <p:spPr>
          <a:xfrm>
            <a:off x="7924917" y="3077835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where the character is to be written.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67225A-288D-EC44-8DAB-482D413CA66F}"/>
              </a:ext>
            </a:extLst>
          </p:cNvPr>
          <p:cNvGrpSpPr/>
          <p:nvPr/>
        </p:nvGrpSpPr>
        <p:grpSpPr>
          <a:xfrm>
            <a:off x="3433479" y="3208931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C06202B-3F83-01D1-3125-D9180C0AD975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F242BF-99D0-5222-BFAD-D99323C7F018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75A7BA-5785-D808-7B39-51F35836698E}"/>
              </a:ext>
            </a:extLst>
          </p:cNvPr>
          <p:cNvSpPr txBox="1"/>
          <p:nvPr/>
        </p:nvSpPr>
        <p:spPr>
          <a:xfrm>
            <a:off x="3667766" y="4612324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character to be written. This is passed as its int parameter. 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43BD6A-6E65-4DA2-94C4-D4E829514BE8}"/>
              </a:ext>
            </a:extLst>
          </p:cNvPr>
          <p:cNvGrpSpPr/>
          <p:nvPr/>
        </p:nvGrpSpPr>
        <p:grpSpPr>
          <a:xfrm rot="10800000" flipH="1">
            <a:off x="2238233" y="4137286"/>
            <a:ext cx="1429533" cy="616791"/>
            <a:chOff x="5404513" y="4933399"/>
            <a:chExt cx="1760563" cy="31609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08DC365-64B5-EAF1-AA6E-D458A7C9F56D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3AD7F82-16B0-AB95-7DFB-28106FA22BD1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8657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EEC2-C5A4-41EC-C800-B2F847A3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9DFD46-1535-7D24-F7B1-23641B8B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fputc</a:t>
            </a:r>
            <a:r>
              <a:rPr lang="en-US" dirty="0"/>
              <a:t>() Function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CE4749-94C6-D02D-57CF-483D4BFD5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9E224-3375-EB88-3414-9AAD1B3C66F2}"/>
              </a:ext>
            </a:extLst>
          </p:cNvPr>
          <p:cNvSpPr txBox="1"/>
          <p:nvPr/>
        </p:nvSpPr>
        <p:spPr>
          <a:xfrm>
            <a:off x="887100" y="119291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C7961-1003-74DA-4CBA-1F1B4C914BA1}"/>
              </a:ext>
            </a:extLst>
          </p:cNvPr>
          <p:cNvSpPr txBox="1"/>
          <p:nvPr/>
        </p:nvSpPr>
        <p:spPr>
          <a:xfrm>
            <a:off x="887103" y="158682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2FD3C-EDCA-02C5-6AC4-237C22E4A096}"/>
              </a:ext>
            </a:extLst>
          </p:cNvPr>
          <p:cNvSpPr txBox="1"/>
          <p:nvPr/>
        </p:nvSpPr>
        <p:spPr>
          <a:xfrm>
            <a:off x="887102" y="190913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588B5-EC98-48D8-1DEB-3C3A0A9280BB}"/>
              </a:ext>
            </a:extLst>
          </p:cNvPr>
          <p:cNvSpPr txBox="1"/>
          <p:nvPr/>
        </p:nvSpPr>
        <p:spPr>
          <a:xfrm>
            <a:off x="5257097" y="421303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E0110-9756-1014-9928-89EB7C06E14F}"/>
              </a:ext>
            </a:extLst>
          </p:cNvPr>
          <p:cNvSpPr txBox="1"/>
          <p:nvPr/>
        </p:nvSpPr>
        <p:spPr>
          <a:xfrm>
            <a:off x="1085348" y="21952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96BF1-C895-B6C4-F7C1-B3D5A9708B7B}"/>
              </a:ext>
            </a:extLst>
          </p:cNvPr>
          <p:cNvSpPr txBox="1"/>
          <p:nvPr/>
        </p:nvSpPr>
        <p:spPr>
          <a:xfrm>
            <a:off x="1085342" y="3259387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C7ED9-EF4D-4286-EBA3-73D1E5C06874}"/>
              </a:ext>
            </a:extLst>
          </p:cNvPr>
          <p:cNvSpPr txBox="1"/>
          <p:nvPr/>
        </p:nvSpPr>
        <p:spPr>
          <a:xfrm>
            <a:off x="1085342" y="369433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dirty="0" err="1"/>
              <a:t>fptr</a:t>
            </a:r>
            <a:r>
              <a:rPr lang="en-GB" dirty="0"/>
              <a:t>==NULL)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32C6D-7909-A64A-1E90-A5B98B850F97}"/>
              </a:ext>
            </a:extLst>
          </p:cNvPr>
          <p:cNvSpPr txBox="1"/>
          <p:nvPr/>
        </p:nvSpPr>
        <p:spPr>
          <a:xfrm>
            <a:off x="1085343" y="40469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D3A051-F6CE-2F88-3F2F-04D6EA1EBC8E}"/>
              </a:ext>
            </a:extLst>
          </p:cNvPr>
          <p:cNvSpPr txBox="1"/>
          <p:nvPr/>
        </p:nvSpPr>
        <p:spPr>
          <a:xfrm>
            <a:off x="1085342" y="487038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0A5F4-A328-A5A9-E0F3-600B2E2D1BAE}"/>
              </a:ext>
            </a:extLst>
          </p:cNvPr>
          <p:cNvSpPr txBox="1"/>
          <p:nvPr/>
        </p:nvSpPr>
        <p:spPr>
          <a:xfrm>
            <a:off x="1401517" y="4327250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("File Not Available");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FE6B3-38EC-F17A-B24B-33DE0324C914}"/>
              </a:ext>
            </a:extLst>
          </p:cNvPr>
          <p:cNvSpPr txBox="1"/>
          <p:nvPr/>
        </p:nvSpPr>
        <p:spPr>
          <a:xfrm>
            <a:off x="5484871" y="106044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EB353F-7A31-F9AF-32CF-7EF9F61ACE16}"/>
              </a:ext>
            </a:extLst>
          </p:cNvPr>
          <p:cNvSpPr txBox="1"/>
          <p:nvPr/>
        </p:nvSpPr>
        <p:spPr>
          <a:xfrm>
            <a:off x="5484871" y="137209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A7D935-A099-92EB-34E2-024CE42E4DD8}"/>
              </a:ext>
            </a:extLst>
          </p:cNvPr>
          <p:cNvSpPr txBox="1"/>
          <p:nvPr/>
        </p:nvSpPr>
        <p:spPr>
          <a:xfrm>
            <a:off x="5484871" y="305543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62381-7EE2-72AF-3D63-35E86E5EC85E}"/>
              </a:ext>
            </a:extLst>
          </p:cNvPr>
          <p:cNvSpPr txBox="1"/>
          <p:nvPr/>
        </p:nvSpPr>
        <p:spPr>
          <a:xfrm>
            <a:off x="5801045" y="1652441"/>
            <a:ext cx="371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for(i=0;str[i]!='\0';i++)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862AA-C851-6D3D-EF2E-ABD8B1625A2E}"/>
              </a:ext>
            </a:extLst>
          </p:cNvPr>
          <p:cNvSpPr txBox="1"/>
          <p:nvPr/>
        </p:nvSpPr>
        <p:spPr>
          <a:xfrm>
            <a:off x="5455338" y="3877582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FCAC8E-8CA8-0BC8-AEF3-DD60F9B38C61}"/>
              </a:ext>
            </a:extLst>
          </p:cNvPr>
          <p:cNvSpPr txBox="1"/>
          <p:nvPr/>
        </p:nvSpPr>
        <p:spPr>
          <a:xfrm>
            <a:off x="1401516" y="4671613"/>
            <a:ext cx="181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exit(0);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9D63A9-6A98-0527-E2B6-E90981B2B9E8}"/>
              </a:ext>
            </a:extLst>
          </p:cNvPr>
          <p:cNvSpPr txBox="1"/>
          <p:nvPr/>
        </p:nvSpPr>
        <p:spPr>
          <a:xfrm>
            <a:off x="5801044" y="2025208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C9F4C1-2A5E-7D90-D80D-C11A9F28A3CC}"/>
              </a:ext>
            </a:extLst>
          </p:cNvPr>
          <p:cNvSpPr txBox="1"/>
          <p:nvPr/>
        </p:nvSpPr>
        <p:spPr>
          <a:xfrm>
            <a:off x="6117915" y="2345759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fputc</a:t>
            </a:r>
            <a:r>
              <a:rPr lang="en-IN" dirty="0"/>
              <a:t>(str[</a:t>
            </a:r>
            <a:r>
              <a:rPr lang="en-IN" dirty="0" err="1"/>
              <a:t>i</a:t>
            </a:r>
            <a:r>
              <a:rPr lang="en-IN" dirty="0"/>
              <a:t>],</a:t>
            </a:r>
            <a:r>
              <a:rPr lang="en-IN" dirty="0" err="1"/>
              <a:t>fptr</a:t>
            </a:r>
            <a:r>
              <a:rPr lang="en-IN" dirty="0"/>
              <a:t>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CE2BC1-8D21-5A82-FC14-B1D88DCFE94A}"/>
              </a:ext>
            </a:extLst>
          </p:cNvPr>
          <p:cNvSpPr txBox="1"/>
          <p:nvPr/>
        </p:nvSpPr>
        <p:spPr>
          <a:xfrm>
            <a:off x="5801044" y="2694913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8E31E0-A4BE-01C2-2621-36F263CDC147}"/>
              </a:ext>
            </a:extLst>
          </p:cNvPr>
          <p:cNvSpPr txBox="1"/>
          <p:nvPr/>
        </p:nvSpPr>
        <p:spPr>
          <a:xfrm>
            <a:off x="1085344" y="256562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str[500]=“Hey, How are you?”;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A3DFB-BDE8-9507-B9C0-E69E080B629D}"/>
              </a:ext>
            </a:extLst>
          </p:cNvPr>
          <p:cNvSpPr txBox="1"/>
          <p:nvPr/>
        </p:nvSpPr>
        <p:spPr>
          <a:xfrm>
            <a:off x="1085343" y="2922477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D7270-64B3-FE90-A26B-E301255873C9}"/>
              </a:ext>
            </a:extLst>
          </p:cNvPr>
          <p:cNvSpPr txBox="1"/>
          <p:nvPr/>
        </p:nvSpPr>
        <p:spPr>
          <a:xfrm>
            <a:off x="5454961" y="3469312"/>
            <a:ext cx="407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("Data Written Successfully.");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E7E13-6DC2-BF2A-D546-73489DE64054}"/>
              </a:ext>
            </a:extLst>
          </p:cNvPr>
          <p:cNvSpPr txBox="1"/>
          <p:nvPr/>
        </p:nvSpPr>
        <p:spPr>
          <a:xfrm>
            <a:off x="5205009" y="4590962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00F3B7-EDAA-079F-C0EB-B5B1B833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31" y="5023822"/>
            <a:ext cx="4667250" cy="1485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37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8" grpId="0"/>
      <p:bldP spid="25" grpId="0"/>
      <p:bldP spid="26" grpId="0"/>
      <p:bldP spid="27" grpId="0"/>
      <p:bldP spid="11" grpId="0"/>
      <p:bldP spid="24" grpId="0"/>
      <p:bldP spid="28" grpId="0"/>
      <p:bldP spid="29" grpId="0"/>
      <p:bldP spid="30" grpId="0"/>
      <p:bldP spid="34" grpId="0"/>
      <p:bldP spid="12" grpId="0"/>
      <p:bldP spid="13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61D0-F787-616D-E95E-EF00D5B8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A55294C-755F-4DD1-EF9F-1CB9B827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putw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97F073-32BE-97FF-30AB-D8C0A67D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putw</a:t>
            </a:r>
            <a:r>
              <a:rPr lang="en-GB" b="1" dirty="0"/>
              <a:t>( ) </a:t>
            </a:r>
            <a:r>
              <a:rPr lang="en-GB" dirty="0"/>
              <a:t>function is used for writing a number into file.</a:t>
            </a:r>
            <a:endParaRPr lang="en-GB" b="1" dirty="0">
              <a:solidFill>
                <a:srgbClr val="C00000"/>
              </a:solidFill>
            </a:endParaRP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619D-216D-7996-7505-0BB06D1D1745}"/>
              </a:ext>
            </a:extLst>
          </p:cNvPr>
          <p:cNvSpPr txBox="1"/>
          <p:nvPr/>
        </p:nvSpPr>
        <p:spPr>
          <a:xfrm>
            <a:off x="1110393" y="1928027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putw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int </a:t>
            </a:r>
            <a:r>
              <a:rPr lang="en-GB" b="1" dirty="0" err="1">
                <a:solidFill>
                  <a:srgbClr val="C00000"/>
                </a:solidFill>
              </a:rPr>
              <a:t>num</a:t>
            </a:r>
            <a:r>
              <a:rPr lang="en-GB" b="1" dirty="0">
                <a:solidFill>
                  <a:srgbClr val="C00000"/>
                </a:solidFill>
              </a:rPr>
              <a:t>, 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9A54B-F310-2082-5213-8D6D8A17D398}"/>
              </a:ext>
            </a:extLst>
          </p:cNvPr>
          <p:cNvSpPr txBox="1"/>
          <p:nvPr/>
        </p:nvSpPr>
        <p:spPr>
          <a:xfrm>
            <a:off x="7761144" y="1248180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where the character is to be written.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0FA366-41E3-45EF-0987-3FA00ACB73A3}"/>
              </a:ext>
            </a:extLst>
          </p:cNvPr>
          <p:cNvGrpSpPr/>
          <p:nvPr/>
        </p:nvGrpSpPr>
        <p:grpSpPr>
          <a:xfrm>
            <a:off x="3269706" y="1379276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D56607-CF8A-2308-D005-141B5EB3253A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8FF8761-3055-3608-3A61-9700AEE28779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7DD3CB-A2E8-17A7-AE8C-A8F2DD9A00C4}"/>
              </a:ext>
            </a:extLst>
          </p:cNvPr>
          <p:cNvSpPr txBox="1"/>
          <p:nvPr/>
        </p:nvSpPr>
        <p:spPr>
          <a:xfrm>
            <a:off x="3503993" y="2782669"/>
            <a:ext cx="4039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integer number to be written.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368AD7-A82D-73C2-04C5-4E5A04219678}"/>
              </a:ext>
            </a:extLst>
          </p:cNvPr>
          <p:cNvGrpSpPr/>
          <p:nvPr/>
        </p:nvGrpSpPr>
        <p:grpSpPr>
          <a:xfrm rot="10800000" flipH="1">
            <a:off x="2074460" y="2307631"/>
            <a:ext cx="1429533" cy="616791"/>
            <a:chOff x="5404513" y="4933399"/>
            <a:chExt cx="1760563" cy="31609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F329938-5AEE-524E-0C26-DCBE7ECEC764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399CFF-A03D-86AE-1E85-D71D191A3122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8500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1845-69AB-7DE9-5C0A-70D0494D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F6044C-BC20-3704-BEDF-69B72951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getw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C10542-DB52-EEDC-24EF-9ABC819E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getw</a:t>
            </a:r>
            <a:r>
              <a:rPr lang="en-GB" b="1" dirty="0"/>
              <a:t>( )</a:t>
            </a:r>
            <a:r>
              <a:rPr lang="en-GB" dirty="0"/>
              <a:t> function is used for reading a number from a file.</a:t>
            </a: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95672-97D8-7101-2986-E2EDB68AD147}"/>
              </a:ext>
            </a:extLst>
          </p:cNvPr>
          <p:cNvSpPr txBox="1"/>
          <p:nvPr/>
        </p:nvSpPr>
        <p:spPr>
          <a:xfrm>
            <a:off x="1110393" y="1928027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getw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8246E-1FD8-451C-9BDE-99681C42FFE2}"/>
              </a:ext>
            </a:extLst>
          </p:cNvPr>
          <p:cNvSpPr txBox="1"/>
          <p:nvPr/>
        </p:nvSpPr>
        <p:spPr>
          <a:xfrm>
            <a:off x="7047069" y="1180140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from where the character is to be read.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F70B0D-5C55-7DCC-7414-218830C05274}"/>
              </a:ext>
            </a:extLst>
          </p:cNvPr>
          <p:cNvGrpSpPr/>
          <p:nvPr/>
        </p:nvGrpSpPr>
        <p:grpSpPr>
          <a:xfrm>
            <a:off x="2555631" y="1311236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A9ADD6-2A88-F2DE-512D-1B082BA510AA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674BC02-9005-F236-9570-F67FCA37190A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244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9E22-C017-58FD-64D3-2CEFF8F5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6B09BE0-220B-E15D-6F38-35C824F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getw</a:t>
            </a:r>
            <a:r>
              <a:rPr lang="en-US" dirty="0"/>
              <a:t>() and </a:t>
            </a:r>
            <a:r>
              <a:rPr lang="en-US" dirty="0" err="1"/>
              <a:t>putw</a:t>
            </a:r>
            <a:r>
              <a:rPr lang="en-US" dirty="0"/>
              <a:t>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351ED59-6D2B-BD1A-23B2-38BAAFDA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25DE43-8654-261A-93BB-A83950F3C6AC}"/>
              </a:ext>
            </a:extLst>
          </p:cNvPr>
          <p:cNvSpPr txBox="1"/>
          <p:nvPr/>
        </p:nvSpPr>
        <p:spPr>
          <a:xfrm>
            <a:off x="887100" y="119291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77368-ED17-498D-11D7-27BB620027F5}"/>
              </a:ext>
            </a:extLst>
          </p:cNvPr>
          <p:cNvSpPr txBox="1"/>
          <p:nvPr/>
        </p:nvSpPr>
        <p:spPr>
          <a:xfrm>
            <a:off x="887103" y="158682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AFE69-B87F-525E-D2F6-1B12119DE4F5}"/>
              </a:ext>
            </a:extLst>
          </p:cNvPr>
          <p:cNvSpPr txBox="1"/>
          <p:nvPr/>
        </p:nvSpPr>
        <p:spPr>
          <a:xfrm>
            <a:off x="887102" y="190913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CA680-8BC0-BA85-32E3-A8F9EFB82118}"/>
              </a:ext>
            </a:extLst>
          </p:cNvPr>
          <p:cNvSpPr txBox="1"/>
          <p:nvPr/>
        </p:nvSpPr>
        <p:spPr>
          <a:xfrm>
            <a:off x="5703668" y="535072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28361-7316-7791-8DE6-62914459EEF6}"/>
              </a:ext>
            </a:extLst>
          </p:cNvPr>
          <p:cNvSpPr txBox="1"/>
          <p:nvPr/>
        </p:nvSpPr>
        <p:spPr>
          <a:xfrm>
            <a:off x="1085348" y="21952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41B92-15BD-2B72-582D-44A07E1157B8}"/>
              </a:ext>
            </a:extLst>
          </p:cNvPr>
          <p:cNvSpPr txBox="1"/>
          <p:nvPr/>
        </p:nvSpPr>
        <p:spPr>
          <a:xfrm>
            <a:off x="1084963" y="287647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95C9B-97B2-1238-0B28-E7C999787F2F}"/>
              </a:ext>
            </a:extLst>
          </p:cNvPr>
          <p:cNvSpPr txBox="1"/>
          <p:nvPr/>
        </p:nvSpPr>
        <p:spPr>
          <a:xfrm>
            <a:off x="1084585" y="332651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=1;i&lt;=10;i++)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E1D13-44D2-8706-EEB6-0CAE73AE3F62}"/>
              </a:ext>
            </a:extLst>
          </p:cNvPr>
          <p:cNvSpPr txBox="1"/>
          <p:nvPr/>
        </p:nvSpPr>
        <p:spPr>
          <a:xfrm>
            <a:off x="1084586" y="367908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9E2E7D-9C35-0320-6BBB-765F93E58F9F}"/>
              </a:ext>
            </a:extLst>
          </p:cNvPr>
          <p:cNvSpPr txBox="1"/>
          <p:nvPr/>
        </p:nvSpPr>
        <p:spPr>
          <a:xfrm>
            <a:off x="1084585" y="429839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F1C8-69AA-38D5-218F-A456B3AE15E6}"/>
              </a:ext>
            </a:extLst>
          </p:cNvPr>
          <p:cNvSpPr txBox="1"/>
          <p:nvPr/>
        </p:nvSpPr>
        <p:spPr>
          <a:xfrm>
            <a:off x="1400760" y="3959425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putw</a:t>
            </a:r>
            <a:r>
              <a:rPr lang="en-IN" dirty="0"/>
              <a:t>(</a:t>
            </a:r>
            <a:r>
              <a:rPr lang="en-IN" dirty="0" err="1"/>
              <a:t>i,fptr</a:t>
            </a:r>
            <a:r>
              <a:rPr lang="en-IN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5FEB2-FB95-667F-4BEC-C86089C4497F}"/>
              </a:ext>
            </a:extLst>
          </p:cNvPr>
          <p:cNvSpPr txBox="1"/>
          <p:nvPr/>
        </p:nvSpPr>
        <p:spPr>
          <a:xfrm>
            <a:off x="1084585" y="5067539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3A8B70-2CFE-6A4E-1599-A87DD081F877}"/>
              </a:ext>
            </a:extLst>
          </p:cNvPr>
          <p:cNvSpPr txBox="1"/>
          <p:nvPr/>
        </p:nvSpPr>
        <p:spPr>
          <a:xfrm>
            <a:off x="1084964" y="25395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2CF034-E401-B1F2-968A-638D8F54695B}"/>
              </a:ext>
            </a:extLst>
          </p:cNvPr>
          <p:cNvSpPr txBox="1"/>
          <p:nvPr/>
        </p:nvSpPr>
        <p:spPr>
          <a:xfrm>
            <a:off x="1084585" y="4650964"/>
            <a:ext cx="407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("Data Written Successfully.");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5E9EBC-B10B-0DF3-8CC5-200CF3454B81}"/>
              </a:ext>
            </a:extLst>
          </p:cNvPr>
          <p:cNvSpPr txBox="1"/>
          <p:nvPr/>
        </p:nvSpPr>
        <p:spPr>
          <a:xfrm>
            <a:off x="5701662" y="287902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A4381-6A3D-CEF0-65EF-12DE4E105779}"/>
              </a:ext>
            </a:extLst>
          </p:cNvPr>
          <p:cNvSpPr txBox="1"/>
          <p:nvPr/>
        </p:nvSpPr>
        <p:spPr>
          <a:xfrm>
            <a:off x="5701284" y="332905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=1;i&lt;=10;i++)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23F76-0120-2497-EF51-C9E257D387FA}"/>
              </a:ext>
            </a:extLst>
          </p:cNvPr>
          <p:cNvSpPr txBox="1"/>
          <p:nvPr/>
        </p:nvSpPr>
        <p:spPr>
          <a:xfrm>
            <a:off x="5701285" y="368162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9BCF1F-C174-65D7-85DE-CB3F46A1FA20}"/>
              </a:ext>
            </a:extLst>
          </p:cNvPr>
          <p:cNvSpPr txBox="1"/>
          <p:nvPr/>
        </p:nvSpPr>
        <p:spPr>
          <a:xfrm>
            <a:off x="5695766" y="462724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55E308-B2C5-C36B-97DF-D1DC388D0B37}"/>
              </a:ext>
            </a:extLst>
          </p:cNvPr>
          <p:cNvSpPr txBox="1"/>
          <p:nvPr/>
        </p:nvSpPr>
        <p:spPr>
          <a:xfrm>
            <a:off x="6017459" y="3961972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getw</a:t>
            </a:r>
            <a:r>
              <a:rPr lang="en-IN" dirty="0"/>
              <a:t>(</a:t>
            </a:r>
            <a:r>
              <a:rPr lang="en-IN" dirty="0" err="1"/>
              <a:t>fptr</a:t>
            </a:r>
            <a:r>
              <a:rPr lang="en-IN" dirty="0"/>
              <a:t>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2756D9-28F6-3FA1-57B1-9C6590392BAB}"/>
              </a:ext>
            </a:extLst>
          </p:cNvPr>
          <p:cNvSpPr txBox="1"/>
          <p:nvPr/>
        </p:nvSpPr>
        <p:spPr>
          <a:xfrm>
            <a:off x="5695766" y="5021760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B1F47-DEC3-DC80-89F1-703C4B0ED805}"/>
              </a:ext>
            </a:extLst>
          </p:cNvPr>
          <p:cNvSpPr txBox="1"/>
          <p:nvPr/>
        </p:nvSpPr>
        <p:spPr>
          <a:xfrm>
            <a:off x="6017459" y="4346901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(“%d\n”,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210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11" grpId="0"/>
      <p:bldP spid="12" grpId="0"/>
      <p:bldP spid="13" grpId="0"/>
      <p:bldP spid="14" grpId="0"/>
      <p:bldP spid="20" grpId="0"/>
      <p:bldP spid="22" grpId="0"/>
      <p:bldP spid="23" grpId="0"/>
      <p:bldP spid="31" grpId="0"/>
      <p:bldP spid="32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4EDF-6282-BC91-D89B-17781D96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046D25F-7A29-551F-2E2E-75E891CF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fprintf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71C7DB-9CAA-BE5D-05C4-4EFC8990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fprintf</a:t>
            </a:r>
            <a:r>
              <a:rPr lang="en-GB" b="1" dirty="0"/>
              <a:t>()</a:t>
            </a:r>
            <a:r>
              <a:rPr lang="en-GB" dirty="0"/>
              <a:t> is used to print content in file instead </a:t>
            </a:r>
            <a:r>
              <a:rPr lang="en-GB" dirty="0" smtClean="0"/>
              <a:t>of </a:t>
            </a:r>
            <a:r>
              <a:rPr lang="en-GB" dirty="0"/>
              <a:t>standard output console.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81DC6E-37C9-9778-20F7-39C005B6841E}"/>
              </a:ext>
            </a:extLst>
          </p:cNvPr>
          <p:cNvSpPr txBox="1"/>
          <p:nvPr/>
        </p:nvSpPr>
        <p:spPr>
          <a:xfrm>
            <a:off x="764270" y="142709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ED35D-B971-6F19-4054-B94B21E3F8B8}"/>
              </a:ext>
            </a:extLst>
          </p:cNvPr>
          <p:cNvSpPr txBox="1"/>
          <p:nvPr/>
        </p:nvSpPr>
        <p:spPr>
          <a:xfrm>
            <a:off x="764273" y="182099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5C249-C893-A541-34DB-D6F5D50F5532}"/>
              </a:ext>
            </a:extLst>
          </p:cNvPr>
          <p:cNvSpPr txBox="1"/>
          <p:nvPr/>
        </p:nvSpPr>
        <p:spPr>
          <a:xfrm>
            <a:off x="764272" y="21433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61C4E-6FE6-E2C0-9B1A-1140F3750704}"/>
              </a:ext>
            </a:extLst>
          </p:cNvPr>
          <p:cNvSpPr txBox="1"/>
          <p:nvPr/>
        </p:nvSpPr>
        <p:spPr>
          <a:xfrm>
            <a:off x="962518" y="242938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80870-0E88-D164-5116-F9F88029F615}"/>
              </a:ext>
            </a:extLst>
          </p:cNvPr>
          <p:cNvSpPr txBox="1"/>
          <p:nvPr/>
        </p:nvSpPr>
        <p:spPr>
          <a:xfrm>
            <a:off x="962133" y="3376476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C18CB-BBE0-60A6-7206-3AA0920BD934}"/>
              </a:ext>
            </a:extLst>
          </p:cNvPr>
          <p:cNvSpPr txBox="1"/>
          <p:nvPr/>
        </p:nvSpPr>
        <p:spPr>
          <a:xfrm>
            <a:off x="961755" y="38265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=0;i&lt;2;i++)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0BDFB-F2D9-5A12-9449-D3AAD368B218}"/>
              </a:ext>
            </a:extLst>
          </p:cNvPr>
          <p:cNvSpPr txBox="1"/>
          <p:nvPr/>
        </p:nvSpPr>
        <p:spPr>
          <a:xfrm>
            <a:off x="961756" y="417907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B0DA61-2A14-E92F-A725-DE6CCD783FDA}"/>
              </a:ext>
            </a:extLst>
          </p:cNvPr>
          <p:cNvSpPr txBox="1"/>
          <p:nvPr/>
        </p:nvSpPr>
        <p:spPr>
          <a:xfrm>
            <a:off x="961755" y="553597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FA3EE-70A2-F09D-3DE7-4228D0FDC8A7}"/>
              </a:ext>
            </a:extLst>
          </p:cNvPr>
          <p:cNvSpPr txBox="1"/>
          <p:nvPr/>
        </p:nvSpPr>
        <p:spPr>
          <a:xfrm>
            <a:off x="1277930" y="4459423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puts("Enter a name");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BA41A5-C091-8C95-6F04-7C8DA89285E8}"/>
              </a:ext>
            </a:extLst>
          </p:cNvPr>
          <p:cNvSpPr txBox="1"/>
          <p:nvPr/>
        </p:nvSpPr>
        <p:spPr>
          <a:xfrm>
            <a:off x="961754" y="6252237"/>
            <a:ext cx="1898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 smtClean="0"/>
              <a:t>); }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C0577-C613-718F-F5A0-5195C4210B5D}"/>
              </a:ext>
            </a:extLst>
          </p:cNvPr>
          <p:cNvSpPr txBox="1"/>
          <p:nvPr/>
        </p:nvSpPr>
        <p:spPr>
          <a:xfrm>
            <a:off x="962134" y="277374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i,n</a:t>
            </a:r>
            <a:r>
              <a:rPr lang="en-GB" dirty="0"/>
              <a:t>=2;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0F292F-552F-E8D0-57EE-BB0A7A2DFAD1}"/>
              </a:ext>
            </a:extLst>
          </p:cNvPr>
          <p:cNvSpPr txBox="1"/>
          <p:nvPr/>
        </p:nvSpPr>
        <p:spPr>
          <a:xfrm>
            <a:off x="961755" y="5888550"/>
            <a:ext cx="407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("Data Written Successfully.");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88E50-0845-8FF4-3C3A-2132C1870963}"/>
              </a:ext>
            </a:extLst>
          </p:cNvPr>
          <p:cNvSpPr txBox="1"/>
          <p:nvPr/>
        </p:nvSpPr>
        <p:spPr>
          <a:xfrm>
            <a:off x="1277930" y="4802501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</a:t>
            </a:r>
            <a:r>
              <a:rPr lang="en-IN" dirty="0" smtClean="0"/>
              <a:t>ets(</a:t>
            </a:r>
            <a:r>
              <a:rPr lang="en-IN" dirty="0" err="1" smtClean="0"/>
              <a:t>str</a:t>
            </a:r>
            <a:r>
              <a:rPr lang="en-IN" dirty="0"/>
              <a:t>);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C60D14-90D2-D206-105F-3E2C9B27E314}"/>
              </a:ext>
            </a:extLst>
          </p:cNvPr>
          <p:cNvSpPr txBox="1"/>
          <p:nvPr/>
        </p:nvSpPr>
        <p:spPr>
          <a:xfrm>
            <a:off x="1257453" y="5127243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fprintf(fptr,"%d.%s\n",i+1,str);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F80870-0E88-D164-5116-F9F88029F615}"/>
              </a:ext>
            </a:extLst>
          </p:cNvPr>
          <p:cNvSpPr txBox="1"/>
          <p:nvPr/>
        </p:nvSpPr>
        <p:spPr>
          <a:xfrm>
            <a:off x="961749" y="303911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  <a:r>
              <a:rPr lang="en-GB" smtClean="0"/>
              <a:t>har </a:t>
            </a:r>
            <a:r>
              <a:rPr lang="en-GB" dirty="0" err="1" smtClean="0"/>
              <a:t>str</a:t>
            </a:r>
            <a:r>
              <a:rPr lang="en-GB" dirty="0" smtClean="0"/>
              <a:t>[100];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2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1" grpId="0"/>
      <p:bldP spid="12" grpId="0"/>
      <p:bldP spid="17" grpId="0"/>
      <p:bldP spid="18" grpId="0"/>
      <p:bldP spid="19" grpId="0"/>
      <p:bldP spid="20" grpId="0"/>
      <p:bldP spid="21" grpId="0"/>
      <p:bldP spid="26" grpId="0"/>
      <p:bldP spid="29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6EF8-463F-1418-0A86-43D1CE71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9D53BD1-54DE-9B23-0C25-E61F4DE1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fscanf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13567E-3076-E60C-90AB-410CECE2A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 smtClean="0"/>
              <a:t>fscanf</a:t>
            </a:r>
            <a:r>
              <a:rPr lang="en-GB" b="1" dirty="0"/>
              <a:t>()</a:t>
            </a:r>
            <a:r>
              <a:rPr lang="en-GB" dirty="0"/>
              <a:t> is used to read set of characters from file. It reads a word from the file and returns EOF at the end of file.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24118-AA03-C649-78CB-F4C0D8414769}"/>
              </a:ext>
            </a:extLst>
          </p:cNvPr>
          <p:cNvSpPr txBox="1"/>
          <p:nvPr/>
        </p:nvSpPr>
        <p:spPr>
          <a:xfrm>
            <a:off x="748725" y="188874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794E9-B4AB-318E-062B-DB142678D28D}"/>
              </a:ext>
            </a:extLst>
          </p:cNvPr>
          <p:cNvSpPr txBox="1"/>
          <p:nvPr/>
        </p:nvSpPr>
        <p:spPr>
          <a:xfrm>
            <a:off x="763509" y="228158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3A737-F77B-FC91-CAAF-7349BE02C2B2}"/>
              </a:ext>
            </a:extLst>
          </p:cNvPr>
          <p:cNvSpPr txBox="1"/>
          <p:nvPr/>
        </p:nvSpPr>
        <p:spPr>
          <a:xfrm>
            <a:off x="763508" y="260389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C0CD2-68CA-B45F-BAD2-D6B2B5678B02}"/>
              </a:ext>
            </a:extLst>
          </p:cNvPr>
          <p:cNvSpPr txBox="1"/>
          <p:nvPr/>
        </p:nvSpPr>
        <p:spPr>
          <a:xfrm>
            <a:off x="764269" y="586865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CA2E5-524B-26C4-6DB4-C833431EC59D}"/>
              </a:ext>
            </a:extLst>
          </p:cNvPr>
          <p:cNvSpPr txBox="1"/>
          <p:nvPr/>
        </p:nvSpPr>
        <p:spPr>
          <a:xfrm>
            <a:off x="961754" y="293091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61B7C-7444-3840-F687-7129FC61D052}"/>
              </a:ext>
            </a:extLst>
          </p:cNvPr>
          <p:cNvSpPr txBox="1"/>
          <p:nvPr/>
        </p:nvSpPr>
        <p:spPr>
          <a:xfrm>
            <a:off x="961369" y="366677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E9AE8-BB3C-B1C2-681E-26958EA70F1B}"/>
              </a:ext>
            </a:extLst>
          </p:cNvPr>
          <p:cNvSpPr txBox="1"/>
          <p:nvPr/>
        </p:nvSpPr>
        <p:spPr>
          <a:xfrm>
            <a:off x="960990" y="4116811"/>
            <a:ext cx="358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while(</a:t>
            </a:r>
            <a:r>
              <a:rPr lang="en-GB" dirty="0" err="1"/>
              <a:t>fscanf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, "%s", buff)!=EOF)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29065-ED63-408B-DF22-DE81BF448BE3}"/>
              </a:ext>
            </a:extLst>
          </p:cNvPr>
          <p:cNvSpPr txBox="1"/>
          <p:nvPr/>
        </p:nvSpPr>
        <p:spPr>
          <a:xfrm>
            <a:off x="960992" y="446938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2BEF9-6F0D-1783-4217-ABF8F7305FCD}"/>
              </a:ext>
            </a:extLst>
          </p:cNvPr>
          <p:cNvSpPr txBox="1"/>
          <p:nvPr/>
        </p:nvSpPr>
        <p:spPr>
          <a:xfrm>
            <a:off x="961370" y="518677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10987-1D70-9CB3-12C4-50C699A254E5}"/>
              </a:ext>
            </a:extLst>
          </p:cNvPr>
          <p:cNvSpPr txBox="1"/>
          <p:nvPr/>
        </p:nvSpPr>
        <p:spPr>
          <a:xfrm>
            <a:off x="1277166" y="4749726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("%s ", buff 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232534-5057-74E5-51D2-8CD92DF820C5}"/>
              </a:ext>
            </a:extLst>
          </p:cNvPr>
          <p:cNvSpPr txBox="1"/>
          <p:nvPr/>
        </p:nvSpPr>
        <p:spPr>
          <a:xfrm>
            <a:off x="961755" y="5571738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7CAA5-1979-33CA-1DAD-4CE9E429EB96}"/>
              </a:ext>
            </a:extLst>
          </p:cNvPr>
          <p:cNvSpPr txBox="1"/>
          <p:nvPr/>
        </p:nvSpPr>
        <p:spPr>
          <a:xfrm>
            <a:off x="961370" y="332986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buff[255];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470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11" grpId="0"/>
      <p:bldP spid="12" grpId="0"/>
      <p:bldP spid="17" grpId="0"/>
      <p:bldP spid="18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87EF-9172-3F38-A1B5-DA632AB9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A90DB-B7C0-B678-A50C-E3AE7A51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Error Handling and Random access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284E2-1B70-4AB5-2D46-2D6810A26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</a:t>
            </a:r>
          </a:p>
        </p:txBody>
      </p:sp>
    </p:spTree>
    <p:extLst>
      <p:ext uri="{BB962C8B-B14F-4D97-AF65-F5344CB8AC3E}">
        <p14:creationId xmlns:p14="http://schemas.microsoft.com/office/powerpoint/2010/main" val="100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B12-6E4A-C431-E07D-06C121FF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0C0628-73C5-ED4B-01A4-53D205ED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Functions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6C4E37-9DDD-5890-AA75-3C29F4D33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It is possible that an error may occur during I/O operation on file. Situation when an error can arise are;</a:t>
            </a:r>
          </a:p>
          <a:p>
            <a:pPr lvl="1"/>
            <a:r>
              <a:rPr lang="en-GB" dirty="0"/>
              <a:t>Trying to use a file that has not been opened.</a:t>
            </a:r>
          </a:p>
          <a:p>
            <a:pPr lvl="1"/>
            <a:r>
              <a:rPr lang="en-US" dirty="0"/>
              <a:t>Trying to perform an operation on a file, when the file is opened for another type of operation.</a:t>
            </a:r>
          </a:p>
          <a:p>
            <a:pPr lvl="1"/>
            <a:r>
              <a:rPr lang="en-US" dirty="0"/>
              <a:t>Opening a file with an invalid filename.</a:t>
            </a:r>
          </a:p>
          <a:p>
            <a:pPr lvl="1"/>
            <a:r>
              <a:rPr lang="en-US" dirty="0"/>
              <a:t>Attempting to write to a write-protected file. </a:t>
            </a:r>
          </a:p>
          <a:p>
            <a:r>
              <a:rPr lang="en-US" dirty="0"/>
              <a:t>If we fail to check such read and write errors, a program may behave abnormally when an error occurs. </a:t>
            </a:r>
          </a:p>
          <a:p>
            <a:r>
              <a:rPr lang="en-US" dirty="0"/>
              <a:t>So for handle this kind of situation we have two library functions;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feof</a:t>
            </a:r>
            <a:r>
              <a:rPr lang="en-US" b="1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ferror</a:t>
            </a:r>
            <a:r>
              <a:rPr lang="en-US" b="1" dirty="0"/>
              <a:t>()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902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01CF-554C-B75E-2F28-F128108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F20E2A-5415-9E70-E44D-520C1BA9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AFCD4C-8FDC-9E77-CD90-1645A0F46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feof</a:t>
            </a:r>
            <a:r>
              <a:rPr lang="en-US" b="1" dirty="0"/>
              <a:t>() </a:t>
            </a:r>
          </a:p>
          <a:p>
            <a:r>
              <a:rPr lang="en-US" dirty="0"/>
              <a:t>This function can be used to test for an end of file condition.</a:t>
            </a:r>
          </a:p>
          <a:p>
            <a:r>
              <a:rPr lang="en-US" dirty="0"/>
              <a:t>It takes a FILE pointer as its only argument and returns a non zero integer value if all of the data from the specified file has been read else it returns zero.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B725F-8506-E9F1-E248-09693E8BCF72}"/>
              </a:ext>
            </a:extLst>
          </p:cNvPr>
          <p:cNvSpPr txBox="1"/>
          <p:nvPr/>
        </p:nvSpPr>
        <p:spPr>
          <a:xfrm>
            <a:off x="928047" y="254278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9E416-90C5-AAE6-BBB8-02170B95ED1E}"/>
              </a:ext>
            </a:extLst>
          </p:cNvPr>
          <p:cNvSpPr txBox="1"/>
          <p:nvPr/>
        </p:nvSpPr>
        <p:spPr>
          <a:xfrm>
            <a:off x="928047" y="28970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852CA-C4FC-642A-EC66-45E7FD046BAC}"/>
              </a:ext>
            </a:extLst>
          </p:cNvPr>
          <p:cNvSpPr txBox="1"/>
          <p:nvPr/>
        </p:nvSpPr>
        <p:spPr>
          <a:xfrm>
            <a:off x="928046" y="321931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CA61B-05C2-CF04-DBEB-247574C6324F}"/>
              </a:ext>
            </a:extLst>
          </p:cNvPr>
          <p:cNvSpPr txBox="1"/>
          <p:nvPr/>
        </p:nvSpPr>
        <p:spPr>
          <a:xfrm>
            <a:off x="1126292" y="350539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447DB-08E8-A9D3-BED8-195BEECCAB83}"/>
              </a:ext>
            </a:extLst>
          </p:cNvPr>
          <p:cNvSpPr txBox="1"/>
          <p:nvPr/>
        </p:nvSpPr>
        <p:spPr>
          <a:xfrm>
            <a:off x="1126288" y="418637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53EA6-8430-A3D1-92A3-1660E3E6CC76}"/>
              </a:ext>
            </a:extLst>
          </p:cNvPr>
          <p:cNvSpPr txBox="1"/>
          <p:nvPr/>
        </p:nvSpPr>
        <p:spPr>
          <a:xfrm>
            <a:off x="1742364" y="513107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ch</a:t>
            </a:r>
            <a:r>
              <a:rPr lang="en-GB" dirty="0"/>
              <a:t> = </a:t>
            </a:r>
            <a:r>
              <a:rPr lang="en-GB" dirty="0" err="1" smtClean="0"/>
              <a:t>fgetc</a:t>
            </a:r>
            <a:r>
              <a:rPr lang="en-GB" dirty="0" smtClean="0"/>
              <a:t>(</a:t>
            </a:r>
            <a:r>
              <a:rPr lang="en-GB" dirty="0" err="1" smtClean="0"/>
              <a:t>fptr</a:t>
            </a:r>
            <a:r>
              <a:rPr lang="en-GB" dirty="0" smtClean="0"/>
              <a:t>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2E76C-714E-23D4-8547-2EC9FD2AA2EB}"/>
              </a:ext>
            </a:extLst>
          </p:cNvPr>
          <p:cNvSpPr txBox="1"/>
          <p:nvPr/>
        </p:nvSpPr>
        <p:spPr>
          <a:xfrm>
            <a:off x="1742364" y="544272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b="1" dirty="0" err="1">
                <a:solidFill>
                  <a:srgbClr val="C00000"/>
                </a:solidFill>
              </a:rPr>
              <a:t>feof</a:t>
            </a:r>
            <a:r>
              <a:rPr lang="en-GB" b="1" dirty="0">
                <a:solidFill>
                  <a:srgbClr val="C00000"/>
                </a:solidFill>
              </a:rPr>
              <a:t>(</a:t>
            </a:r>
            <a:r>
              <a:rPr lang="en-GB" b="1" dirty="0" err="1">
                <a:solidFill>
                  <a:srgbClr val="C00000"/>
                </a:solidFill>
              </a:rPr>
              <a:t>fptr</a:t>
            </a:r>
            <a:r>
              <a:rPr lang="en-GB" b="1" dirty="0">
                <a:solidFill>
                  <a:srgbClr val="C00000"/>
                </a:solidFill>
              </a:rPr>
              <a:t>)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515EF-08B6-7E31-2064-5676FE3075DD}"/>
              </a:ext>
            </a:extLst>
          </p:cNvPr>
          <p:cNvSpPr txBox="1"/>
          <p:nvPr/>
        </p:nvSpPr>
        <p:spPr>
          <a:xfrm>
            <a:off x="1742363" y="62662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CB9C5-5C10-8BF2-B3F3-ABC7A65463A7}"/>
              </a:ext>
            </a:extLst>
          </p:cNvPr>
          <p:cNvSpPr txBox="1"/>
          <p:nvPr/>
        </p:nvSpPr>
        <p:spPr>
          <a:xfrm>
            <a:off x="1739221" y="5723057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D677D-39B7-8C4A-20D6-85074BD4DE0E}"/>
              </a:ext>
            </a:extLst>
          </p:cNvPr>
          <p:cNvSpPr txBox="1"/>
          <p:nvPr/>
        </p:nvSpPr>
        <p:spPr>
          <a:xfrm>
            <a:off x="5443929" y="508923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("%c", </a:t>
            </a:r>
            <a:r>
              <a:rPr lang="en-GB" dirty="0" err="1"/>
              <a:t>ch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ADB27-E925-71DF-E216-CCCD3D7B90CF}"/>
              </a:ext>
            </a:extLst>
          </p:cNvPr>
          <p:cNvSpPr txBox="1"/>
          <p:nvPr/>
        </p:nvSpPr>
        <p:spPr>
          <a:xfrm>
            <a:off x="5443929" y="540089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1E943-F318-0C4A-105E-45A1530B82B1}"/>
              </a:ext>
            </a:extLst>
          </p:cNvPr>
          <p:cNvSpPr txBox="1"/>
          <p:nvPr/>
        </p:nvSpPr>
        <p:spPr>
          <a:xfrm>
            <a:off x="5086439" y="615599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B2B163-168F-F349-B4BA-52AFDE0BF996}"/>
              </a:ext>
            </a:extLst>
          </p:cNvPr>
          <p:cNvSpPr txBox="1"/>
          <p:nvPr/>
        </p:nvSpPr>
        <p:spPr>
          <a:xfrm>
            <a:off x="5314132" y="5844343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D2C117-CE38-EC10-5FB3-54D8CEA7C5E7}"/>
              </a:ext>
            </a:extLst>
          </p:cNvPr>
          <p:cNvSpPr txBox="1"/>
          <p:nvPr/>
        </p:nvSpPr>
        <p:spPr>
          <a:xfrm>
            <a:off x="2033865" y="6013504"/>
            <a:ext cx="181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break;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E55F1-D20B-10F9-39E2-A96D591EA13F}"/>
              </a:ext>
            </a:extLst>
          </p:cNvPr>
          <p:cNvSpPr txBox="1"/>
          <p:nvPr/>
        </p:nvSpPr>
        <p:spPr>
          <a:xfrm>
            <a:off x="1126289" y="451330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while(1)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D08CE-EF28-E74C-4700-3227BAB4EBD3}"/>
              </a:ext>
            </a:extLst>
          </p:cNvPr>
          <p:cNvSpPr txBox="1"/>
          <p:nvPr/>
        </p:nvSpPr>
        <p:spPr>
          <a:xfrm>
            <a:off x="1126289" y="482496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AEC342-0E2C-ADB2-99F6-6AB51447693F}"/>
              </a:ext>
            </a:extLst>
          </p:cNvPr>
          <p:cNvSpPr txBox="1"/>
          <p:nvPr/>
        </p:nvSpPr>
        <p:spPr>
          <a:xfrm>
            <a:off x="1126288" y="38368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ch</a:t>
            </a:r>
            <a:r>
              <a:rPr lang="en-GB" dirty="0"/>
              <a:t>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959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3" grpId="0"/>
      <p:bldP spid="24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0B777-93CB-62DB-E1A7-9B8FBD07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5F9F67B-C0A1-70F3-DDEA-D3C9A761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EEDBE6-4ACE-5238-81AD-B46ECF15E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 err="1"/>
              <a:t>ferror</a:t>
            </a:r>
            <a:r>
              <a:rPr lang="en-US" b="1" dirty="0"/>
              <a:t>() </a:t>
            </a:r>
          </a:p>
          <a:p>
            <a:r>
              <a:rPr lang="en-US" dirty="0"/>
              <a:t>The </a:t>
            </a:r>
            <a:r>
              <a:rPr lang="en-US" dirty="0" err="1"/>
              <a:t>ferror</a:t>
            </a:r>
            <a:r>
              <a:rPr lang="en-US" dirty="0"/>
              <a:t>() function reports the status of the file indicated.</a:t>
            </a:r>
          </a:p>
          <a:p>
            <a:r>
              <a:rPr lang="en-US" dirty="0"/>
              <a:t>It takes a FILE pointer as its only argument and returns a non zero integer value if error has been detected up to that pointer else it returns zero.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D3145-034F-8781-3818-7165A0A8F533}"/>
              </a:ext>
            </a:extLst>
          </p:cNvPr>
          <p:cNvSpPr txBox="1"/>
          <p:nvPr/>
        </p:nvSpPr>
        <p:spPr>
          <a:xfrm>
            <a:off x="928047" y="254278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A8627-E0BF-F341-5179-775221B04359}"/>
              </a:ext>
            </a:extLst>
          </p:cNvPr>
          <p:cNvSpPr txBox="1"/>
          <p:nvPr/>
        </p:nvSpPr>
        <p:spPr>
          <a:xfrm>
            <a:off x="928047" y="28970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075C2-0270-3674-F3B8-4F0A27896B2C}"/>
              </a:ext>
            </a:extLst>
          </p:cNvPr>
          <p:cNvSpPr txBox="1"/>
          <p:nvPr/>
        </p:nvSpPr>
        <p:spPr>
          <a:xfrm>
            <a:off x="928046" y="321931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E535F-056B-D40E-6B80-300D9099EF04}"/>
              </a:ext>
            </a:extLst>
          </p:cNvPr>
          <p:cNvSpPr txBox="1"/>
          <p:nvPr/>
        </p:nvSpPr>
        <p:spPr>
          <a:xfrm>
            <a:off x="1126292" y="350539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F4DD2-99BB-5352-B2AF-4821EB2CFF17}"/>
              </a:ext>
            </a:extLst>
          </p:cNvPr>
          <p:cNvSpPr txBox="1"/>
          <p:nvPr/>
        </p:nvSpPr>
        <p:spPr>
          <a:xfrm>
            <a:off x="1126288" y="418637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C6702-A215-AC6E-8793-87F7FEB263B1}"/>
              </a:ext>
            </a:extLst>
          </p:cNvPr>
          <p:cNvSpPr txBox="1"/>
          <p:nvPr/>
        </p:nvSpPr>
        <p:spPr>
          <a:xfrm>
            <a:off x="1129431" y="485567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b="1" dirty="0" err="1">
                <a:solidFill>
                  <a:srgbClr val="C00000"/>
                </a:solidFill>
              </a:rPr>
              <a:t>ferror</a:t>
            </a:r>
            <a:r>
              <a:rPr lang="en-GB" b="1" dirty="0">
                <a:solidFill>
                  <a:srgbClr val="C00000"/>
                </a:solidFill>
              </a:rPr>
              <a:t>(</a:t>
            </a:r>
            <a:r>
              <a:rPr lang="en-GB" b="1" dirty="0" err="1">
                <a:solidFill>
                  <a:srgbClr val="C00000"/>
                </a:solidFill>
              </a:rPr>
              <a:t>fptr</a:t>
            </a:r>
            <a:r>
              <a:rPr lang="en-GB" b="1" dirty="0">
                <a:solidFill>
                  <a:srgbClr val="C00000"/>
                </a:solidFill>
              </a:rPr>
              <a:t>)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B0688-C4E6-835D-B92D-FF6E2090D871}"/>
              </a:ext>
            </a:extLst>
          </p:cNvPr>
          <p:cNvSpPr txBox="1"/>
          <p:nvPr/>
        </p:nvSpPr>
        <p:spPr>
          <a:xfrm>
            <a:off x="1129430" y="567916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DCD88-73CD-E373-E20A-99357E2A0FF1}"/>
              </a:ext>
            </a:extLst>
          </p:cNvPr>
          <p:cNvSpPr txBox="1"/>
          <p:nvPr/>
        </p:nvSpPr>
        <p:spPr>
          <a:xfrm>
            <a:off x="1126288" y="5136010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23D14C-9977-79AE-6C50-7945CE1F1A8A}"/>
              </a:ext>
            </a:extLst>
          </p:cNvPr>
          <p:cNvSpPr txBox="1"/>
          <p:nvPr/>
        </p:nvSpPr>
        <p:spPr>
          <a:xfrm>
            <a:off x="854606" y="623059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C2C52-78D0-F22C-F274-D373DCA6EBC8}"/>
              </a:ext>
            </a:extLst>
          </p:cNvPr>
          <p:cNvSpPr txBox="1"/>
          <p:nvPr/>
        </p:nvSpPr>
        <p:spPr>
          <a:xfrm>
            <a:off x="1094542" y="6009426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324D7-1825-4F0F-722A-695B174DA278}"/>
              </a:ext>
            </a:extLst>
          </p:cNvPr>
          <p:cNvSpPr txBox="1"/>
          <p:nvPr/>
        </p:nvSpPr>
        <p:spPr>
          <a:xfrm>
            <a:off x="1445604" y="5423027"/>
            <a:ext cx="465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("Error in reading from file : </a:t>
            </a:r>
            <a:r>
              <a:rPr lang="en-GB" dirty="0" smtClean="0"/>
              <a:t>hello.txt\n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BE291A-1896-2794-3A24-7DA085A0EB1D}"/>
              </a:ext>
            </a:extLst>
          </p:cNvPr>
          <p:cNvSpPr txBox="1"/>
          <p:nvPr/>
        </p:nvSpPr>
        <p:spPr>
          <a:xfrm>
            <a:off x="1126289" y="451330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ch</a:t>
            </a:r>
            <a:r>
              <a:rPr lang="en-GB" dirty="0" smtClean="0"/>
              <a:t> </a:t>
            </a:r>
            <a:r>
              <a:rPr lang="en-GB" dirty="0"/>
              <a:t>= </a:t>
            </a:r>
            <a:r>
              <a:rPr lang="en-GB" dirty="0" err="1"/>
              <a:t>fgetc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76C790-DE4A-33C2-4B05-203501F5E927}"/>
              </a:ext>
            </a:extLst>
          </p:cNvPr>
          <p:cNvSpPr txBox="1"/>
          <p:nvPr/>
        </p:nvSpPr>
        <p:spPr>
          <a:xfrm>
            <a:off x="1126288" y="38368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ch</a:t>
            </a:r>
            <a:r>
              <a:rPr lang="en-GB" dirty="0"/>
              <a:t>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873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11" grpId="0"/>
      <p:bldP spid="12" grpId="0"/>
      <p:bldP spid="13" grpId="0"/>
      <p:bldP spid="16" grpId="0"/>
      <p:bldP spid="18" grpId="0"/>
      <p:bldP spid="19" grpId="0"/>
      <p:bldP spid="23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A92F-F44E-611D-80AB-C249278E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8462567-7F5A-3D5E-75A2-D96FBD7F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5FD5F4-49B4-DEEB-1647-4CC97DD25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When we want to access only a particular part of a file and don’t want to read the other parts of the file, at that time we can use random access functions. </a:t>
            </a:r>
          </a:p>
          <a:p>
            <a:pPr lvl="0"/>
            <a:r>
              <a:rPr lang="en-GB" dirty="0"/>
              <a:t>Random access functions are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fseek</a:t>
            </a:r>
            <a:r>
              <a:rPr lang="en-US" b="1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ftell</a:t>
            </a:r>
            <a:r>
              <a:rPr lang="en-US" b="1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rewind()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129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ACB41-4B1C-6004-BB98-CACFF3E1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3E91F0B-C5FD-6983-F816-0FC301AA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38BBC1-8AB6-04F7-D9F6-5BC728B9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fseek</a:t>
            </a:r>
            <a:r>
              <a:rPr lang="en-US" b="1" dirty="0"/>
              <a:t>()</a:t>
            </a:r>
          </a:p>
          <a:p>
            <a:r>
              <a:rPr lang="en-US" dirty="0"/>
              <a:t>This function is used to move the file position to a desired location within the file.</a:t>
            </a:r>
          </a:p>
          <a:p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pPr lvl="1"/>
            <a:r>
              <a:rPr lang="en-US" b="1" i="1" dirty="0" err="1">
                <a:solidFill>
                  <a:srgbClr val="C00000"/>
                </a:solidFill>
              </a:rPr>
              <a:t>file_ptr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dirty="0"/>
              <a:t>is a pointer to the file concerned.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offset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is number of position , it specifies the number of positions (bytes) to be moved from the location specified by </a:t>
            </a:r>
            <a:r>
              <a:rPr lang="en-US" i="1" dirty="0"/>
              <a:t>position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position </a:t>
            </a:r>
            <a:r>
              <a:rPr lang="en-US" dirty="0"/>
              <a:t>is an integer number</a:t>
            </a:r>
            <a:endParaRPr lang="en-US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7D64B-31DF-9662-0A7B-47C18E939F15}"/>
              </a:ext>
            </a:extLst>
          </p:cNvPr>
          <p:cNvSpPr txBox="1"/>
          <p:nvPr/>
        </p:nvSpPr>
        <p:spPr>
          <a:xfrm>
            <a:off x="1451153" y="1757625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fseek</a:t>
            </a:r>
            <a:r>
              <a:rPr lang="en-US" sz="2400" b="1" dirty="0"/>
              <a:t> (</a:t>
            </a:r>
            <a:r>
              <a:rPr lang="en-US" sz="2400" b="1" dirty="0" err="1">
                <a:solidFill>
                  <a:srgbClr val="C00000"/>
                </a:solidFill>
              </a:rPr>
              <a:t>file_ptr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offset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position</a:t>
            </a:r>
            <a:r>
              <a:rPr lang="en-US" sz="2400" b="1" dirty="0"/>
              <a:t>);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DAE900-68D3-1A5E-2FA5-F240F81FA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45739"/>
              </p:ext>
            </p:extLst>
          </p:nvPr>
        </p:nvGraphicFramePr>
        <p:xfrm>
          <a:off x="890138" y="3563102"/>
          <a:ext cx="1095352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5948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5757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Statement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Meaning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BB1F50-74D5-FC8F-C6A4-8E4B491E9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41928"/>
              </p:ext>
            </p:extLst>
          </p:nvPr>
        </p:nvGraphicFramePr>
        <p:xfrm>
          <a:off x="890138" y="4034496"/>
          <a:ext cx="1095352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1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0L,0)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to the beginning.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37D96D-C997-CE40-737B-8E446143D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39738"/>
              </p:ext>
            </p:extLst>
          </p:nvPr>
        </p:nvGraphicFramePr>
        <p:xfrm>
          <a:off x="890137" y="4483319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0L,1)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Stay at the current position.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34CECC-0C75-66F1-033A-F84A5CDB7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40668"/>
              </p:ext>
            </p:extLst>
          </p:nvPr>
        </p:nvGraphicFramePr>
        <p:xfrm>
          <a:off x="890136" y="4922818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0L,2)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to the end of the fie.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C39D99-5FD9-444C-18CE-2779200BE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32630"/>
              </p:ext>
            </p:extLst>
          </p:nvPr>
        </p:nvGraphicFramePr>
        <p:xfrm>
          <a:off x="890136" y="5383585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(fptr,m,0)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Move to the (m+1)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byte in the file.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77BAE49-5162-6803-658D-98442D323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44717"/>
              </p:ext>
            </p:extLst>
          </p:nvPr>
        </p:nvGraphicFramePr>
        <p:xfrm>
          <a:off x="890135" y="5826476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m,1)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Move forward by m bytes.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2091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663E-22AF-81A3-F950-42AE98C6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3F2C3D-6626-FB93-EB1B-8E91CEDE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9835C9-3716-EDB8-0C89-08F45BAD4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 startAt="2"/>
            </a:pPr>
            <a:r>
              <a:rPr lang="en-US" b="1" dirty="0" err="1"/>
              <a:t>ftell</a:t>
            </a:r>
            <a:r>
              <a:rPr lang="en-US" b="1" dirty="0"/>
              <a:t>()</a:t>
            </a:r>
          </a:p>
          <a:p>
            <a:r>
              <a:rPr lang="en-US" dirty="0"/>
              <a:t>This function is used to </a:t>
            </a:r>
            <a:r>
              <a:rPr lang="en-GB" dirty="0"/>
              <a:t>find out the position of the file pointer in the file with respect to starting of the file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	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rewind()</a:t>
            </a:r>
          </a:p>
          <a:p>
            <a:r>
              <a:rPr lang="en-US" dirty="0"/>
              <a:t>This takes a file pointer and resets the position to the start  of the file.</a:t>
            </a:r>
          </a:p>
          <a:p>
            <a:r>
              <a:rPr lang="en-US" dirty="0"/>
              <a:t>It is similar to </a:t>
            </a:r>
            <a:r>
              <a:rPr lang="en-US" b="1" dirty="0" err="1"/>
              <a:t>fseek</a:t>
            </a:r>
            <a:r>
              <a:rPr lang="en-US" b="1" dirty="0"/>
              <a:t>(</a:t>
            </a:r>
            <a:r>
              <a:rPr lang="en-US" b="1" dirty="0" err="1"/>
              <a:t>fptr</a:t>
            </a:r>
            <a:r>
              <a:rPr lang="en-US" b="1" dirty="0"/>
              <a:t>, 0L,0).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12121F-CD9B-0879-43AC-0A5CE3946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87948"/>
              </p:ext>
            </p:extLst>
          </p:nvPr>
        </p:nvGraphicFramePr>
        <p:xfrm>
          <a:off x="454709" y="860066"/>
          <a:ext cx="1095352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5948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5757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Statement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Meaning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331369C-DF2B-2194-240F-888294506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032100"/>
              </p:ext>
            </p:extLst>
          </p:nvPr>
        </p:nvGraphicFramePr>
        <p:xfrm>
          <a:off x="454708" y="1379771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-m,1)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backward by m bytes from the current position.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F1C32C-C94E-1798-428A-58011DD9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000615"/>
              </p:ext>
            </p:extLst>
          </p:nvPr>
        </p:nvGraphicFramePr>
        <p:xfrm>
          <a:off x="454707" y="1829606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-m,2)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backward by m bytes from the end.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2803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99AB-BCF3-EC95-0487-08D4EEDB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E9A948C-25CA-5F83-7D64-DC2D607E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6B8F27-5D89-5672-19C9-1FCAA746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8AFC2F-1A76-7962-CA61-B988ED41744C}"/>
              </a:ext>
            </a:extLst>
          </p:cNvPr>
          <p:cNvSpPr txBox="1"/>
          <p:nvPr/>
        </p:nvSpPr>
        <p:spPr>
          <a:xfrm>
            <a:off x="928047" y="139615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A58FB-A7D6-9EA3-6172-7650D27220BF}"/>
              </a:ext>
            </a:extLst>
          </p:cNvPr>
          <p:cNvSpPr txBox="1"/>
          <p:nvPr/>
        </p:nvSpPr>
        <p:spPr>
          <a:xfrm>
            <a:off x="928047" y="175037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450C1-DC55-3534-43FE-DB10CC57040C}"/>
              </a:ext>
            </a:extLst>
          </p:cNvPr>
          <p:cNvSpPr txBox="1"/>
          <p:nvPr/>
        </p:nvSpPr>
        <p:spPr>
          <a:xfrm>
            <a:off x="928046" y="207268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6BF10-66E7-A09D-4645-F88045BA4A0F}"/>
              </a:ext>
            </a:extLst>
          </p:cNvPr>
          <p:cNvSpPr txBox="1"/>
          <p:nvPr/>
        </p:nvSpPr>
        <p:spPr>
          <a:xfrm>
            <a:off x="1126292" y="235876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4CFD8-A92A-79C2-B33F-D7D136303194}"/>
              </a:ext>
            </a:extLst>
          </p:cNvPr>
          <p:cNvSpPr txBox="1"/>
          <p:nvPr/>
        </p:nvSpPr>
        <p:spPr>
          <a:xfrm>
            <a:off x="1126288" y="303974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23CF2-1573-6383-69ED-A2B29E399A21}"/>
              </a:ext>
            </a:extLst>
          </p:cNvPr>
          <p:cNvSpPr txBox="1"/>
          <p:nvPr/>
        </p:nvSpPr>
        <p:spPr>
          <a:xfrm>
            <a:off x="1129431" y="370904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len</a:t>
            </a:r>
            <a:r>
              <a:rPr lang="en-GB" dirty="0"/>
              <a:t> = </a:t>
            </a:r>
            <a:r>
              <a:rPr lang="en-GB" b="1" dirty="0" err="1">
                <a:solidFill>
                  <a:srgbClr val="C00000"/>
                </a:solidFill>
              </a:rPr>
              <a:t>ftell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775A9-6012-D6A9-E18D-2BD300F1D1C3}"/>
              </a:ext>
            </a:extLst>
          </p:cNvPr>
          <p:cNvSpPr txBox="1"/>
          <p:nvPr/>
        </p:nvSpPr>
        <p:spPr>
          <a:xfrm>
            <a:off x="928046" y="473566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15EE1-5FB1-33AE-BB2B-FE8D4CA5F269}"/>
              </a:ext>
            </a:extLst>
          </p:cNvPr>
          <p:cNvSpPr txBox="1"/>
          <p:nvPr/>
        </p:nvSpPr>
        <p:spPr>
          <a:xfrm>
            <a:off x="1117687" y="4428556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6A993-B711-E8D2-5760-F43B5087AAC3}"/>
              </a:ext>
            </a:extLst>
          </p:cNvPr>
          <p:cNvSpPr txBox="1"/>
          <p:nvPr/>
        </p:nvSpPr>
        <p:spPr>
          <a:xfrm>
            <a:off x="1139933" y="4069747"/>
            <a:ext cx="465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("Size of file: %d bytes", </a:t>
            </a:r>
            <a:r>
              <a:rPr lang="en-GB" dirty="0" err="1"/>
              <a:t>len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5809D-FCBA-C280-1EE7-044389159102}"/>
              </a:ext>
            </a:extLst>
          </p:cNvPr>
          <p:cNvSpPr txBox="1"/>
          <p:nvPr/>
        </p:nvSpPr>
        <p:spPr>
          <a:xfrm>
            <a:off x="1126289" y="336668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rgbClr val="C00000"/>
                </a:solidFill>
              </a:rPr>
              <a:t>fseek</a:t>
            </a:r>
            <a:r>
              <a:rPr lang="en-GB" b="1" dirty="0">
                <a:solidFill>
                  <a:srgbClr val="C00000"/>
                </a:solidFill>
              </a:rPr>
              <a:t>(</a:t>
            </a:r>
            <a:r>
              <a:rPr lang="en-GB" b="1" dirty="0" err="1">
                <a:solidFill>
                  <a:srgbClr val="C00000"/>
                </a:solidFill>
              </a:rPr>
              <a:t>fptr</a:t>
            </a:r>
            <a:r>
              <a:rPr lang="en-GB" b="1" dirty="0">
                <a:solidFill>
                  <a:srgbClr val="C00000"/>
                </a:solidFill>
              </a:rPr>
              <a:t>, 0L,2);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79788-B490-6EC4-19CD-E517D06D2F07}"/>
              </a:ext>
            </a:extLst>
          </p:cNvPr>
          <p:cNvSpPr txBox="1"/>
          <p:nvPr/>
        </p:nvSpPr>
        <p:spPr>
          <a:xfrm>
            <a:off x="1126288" y="269023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len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0AE08-FA74-42E3-21AE-3C15983EE4BD}"/>
              </a:ext>
            </a:extLst>
          </p:cNvPr>
          <p:cNvSpPr txBox="1"/>
          <p:nvPr/>
        </p:nvSpPr>
        <p:spPr>
          <a:xfrm>
            <a:off x="5544457" y="1750377"/>
            <a:ext cx="5065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Suppose “hello.txt“ file contains following data</a:t>
            </a:r>
          </a:p>
          <a:p>
            <a:r>
              <a:rPr lang="en-GB" dirty="0"/>
              <a:t>hello my name is </a:t>
            </a:r>
            <a:r>
              <a:rPr lang="en-GB" dirty="0" err="1"/>
              <a:t>xyz</a:t>
            </a:r>
            <a:r>
              <a:rPr lang="en-GB" dirty="0"/>
              <a:t> </a:t>
            </a:r>
            <a:r>
              <a:rPr lang="en-GB" dirty="0" err="1"/>
              <a:t>pqrs</a:t>
            </a:r>
            <a:r>
              <a:rPr lang="en-GB" dirty="0"/>
              <a:t> </a:t>
            </a:r>
            <a:r>
              <a:rPr lang="en-GB" dirty="0" err="1"/>
              <a:t>abc</a:t>
            </a:r>
            <a:r>
              <a:rPr lang="en-GB" dirty="0"/>
              <a:t>.</a:t>
            </a:r>
          </a:p>
          <a:p>
            <a:r>
              <a:rPr lang="en-GB" dirty="0" err="1"/>
              <a:t>i</a:t>
            </a:r>
            <a:r>
              <a:rPr lang="en-GB" dirty="0"/>
              <a:t> am computer engineer.</a:t>
            </a:r>
          </a:p>
          <a:p>
            <a:r>
              <a:rPr lang="en-GB" dirty="0" err="1"/>
              <a:t>i</a:t>
            </a:r>
            <a:r>
              <a:rPr lang="en-GB" dirty="0"/>
              <a:t> am living in </a:t>
            </a:r>
            <a:r>
              <a:rPr lang="en-GB" dirty="0" err="1"/>
              <a:t>rajkot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B5E5B5-1256-B1C8-306A-FE0B8ED8E9AD}"/>
              </a:ext>
            </a:extLst>
          </p:cNvPr>
          <p:cNvSpPr txBox="1"/>
          <p:nvPr/>
        </p:nvSpPr>
        <p:spPr>
          <a:xfrm>
            <a:off x="5526535" y="2997348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62570E-D61A-101B-C02A-01FA2BF0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60" y="3421215"/>
            <a:ext cx="5419725" cy="1314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021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A587-7394-8512-89B5-940EE08C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B90504-E121-0833-909F-4D93A1D6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Command Line Arguments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B6020-10D5-7781-84BA-FF1762331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 </a:t>
            </a:r>
          </a:p>
        </p:txBody>
      </p:sp>
    </p:spTree>
    <p:extLst>
      <p:ext uri="{BB962C8B-B14F-4D97-AF65-F5344CB8AC3E}">
        <p14:creationId xmlns:p14="http://schemas.microsoft.com/office/powerpoint/2010/main" val="1678444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43825-CB0D-68B9-0314-812D560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75E106-3CF9-301E-FE7E-B05C0F57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64C9459-D0FF-3B33-7915-8330D738A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It is possible to pass some values from the command line to your C programs when they are executed. </a:t>
            </a:r>
          </a:p>
          <a:p>
            <a:r>
              <a:rPr lang="en-GB" dirty="0"/>
              <a:t>These values are called </a:t>
            </a:r>
            <a:r>
              <a:rPr lang="en-GB" b="1" dirty="0">
                <a:solidFill>
                  <a:srgbClr val="C00000"/>
                </a:solidFill>
              </a:rPr>
              <a:t>command line arguments.</a:t>
            </a:r>
          </a:p>
          <a:p>
            <a:r>
              <a:rPr lang="en-GB" dirty="0"/>
              <a:t>Many times they are important for your program especially when you want to control your program from outside instead of coding whose values are from inside the code.</a:t>
            </a:r>
          </a:p>
          <a:p>
            <a:r>
              <a:rPr lang="en-GB" dirty="0"/>
              <a:t>The command line arguments are handled using main() function arguments</a:t>
            </a:r>
          </a:p>
          <a:p>
            <a:pPr lvl="1"/>
            <a:r>
              <a:rPr lang="en-GB" b="1" dirty="0" err="1"/>
              <a:t>argc</a:t>
            </a:r>
            <a:r>
              <a:rPr lang="en-GB" dirty="0"/>
              <a:t> refers to the number of arguments passed</a:t>
            </a:r>
          </a:p>
          <a:p>
            <a:pPr lvl="1"/>
            <a:r>
              <a:rPr lang="en-GB" b="1" dirty="0" err="1"/>
              <a:t>argv</a:t>
            </a:r>
            <a:r>
              <a:rPr lang="en-GB" b="1" dirty="0"/>
              <a:t>[] </a:t>
            </a:r>
            <a:r>
              <a:rPr lang="en-GB" dirty="0"/>
              <a:t>is a pointer array which points to each argument passed to the program</a:t>
            </a:r>
          </a:p>
          <a:p>
            <a:pPr lvl="1"/>
            <a:r>
              <a:rPr lang="en-GB" b="1" dirty="0"/>
              <a:t>NOTE: The first argument is always would be file name.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894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724F-0F86-3504-A782-DA2316F8C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A6F9C28-8F2A-D09F-6DA0-FAC288BC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B0AD9A-92A6-C5AF-6BE2-054800B53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Example;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Save this program and compile the program. Do not execute this program directly in Dev C++. </a:t>
            </a:r>
          </a:p>
          <a:p>
            <a:pPr lvl="0"/>
            <a:r>
              <a:rPr lang="en-GB" dirty="0"/>
              <a:t>In Dev C++, Go To Execute Menu </a:t>
            </a:r>
            <a:r>
              <a:rPr lang="en-GB" dirty="0">
                <a:sym typeface="Wingdings" panose="05000000000000000000" pitchFamily="2" charset="2"/>
              </a:rPr>
              <a:t> Click On Parameters  </a:t>
            </a:r>
            <a:r>
              <a:rPr lang="en-GB" dirty="0"/>
              <a:t> Enter Parameters in Parameters to pass to your program by putting space between values </a:t>
            </a:r>
            <a:r>
              <a:rPr lang="en-GB" b="1" dirty="0"/>
              <a:t>(</a:t>
            </a:r>
            <a:r>
              <a:rPr lang="en-GB" b="1" dirty="0" smtClean="0"/>
              <a:t>example: </a:t>
            </a:r>
            <a:r>
              <a:rPr lang="en-GB" b="1" dirty="0"/>
              <a:t>my name is </a:t>
            </a:r>
            <a:r>
              <a:rPr lang="en-GB" b="1" dirty="0" err="1"/>
              <a:t>abc</a:t>
            </a:r>
            <a:r>
              <a:rPr lang="en-GB" b="1" dirty="0"/>
              <a:t>) </a:t>
            </a:r>
            <a:r>
              <a:rPr lang="en-GB" dirty="0">
                <a:sym typeface="Wingdings" panose="05000000000000000000" pitchFamily="2" charset="2"/>
              </a:rPr>
              <a:t> Click on OK  Now run the program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D51A7-17D3-2D84-3AA0-484DFA81F6F4}"/>
              </a:ext>
            </a:extLst>
          </p:cNvPr>
          <p:cNvSpPr txBox="1"/>
          <p:nvPr/>
        </p:nvSpPr>
        <p:spPr>
          <a:xfrm>
            <a:off x="928047" y="139615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1542A-7C5A-8154-FD3C-15383C933DA5}"/>
              </a:ext>
            </a:extLst>
          </p:cNvPr>
          <p:cNvSpPr txBox="1"/>
          <p:nvPr/>
        </p:nvSpPr>
        <p:spPr>
          <a:xfrm>
            <a:off x="928047" y="1750377"/>
            <a:ext cx="393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</a:t>
            </a:r>
            <a:r>
              <a:rPr lang="en-GB" b="1" dirty="0">
                <a:solidFill>
                  <a:srgbClr val="C00000"/>
                </a:solidFill>
              </a:rPr>
              <a:t>int </a:t>
            </a:r>
            <a:r>
              <a:rPr lang="en-GB" b="1" dirty="0" err="1">
                <a:solidFill>
                  <a:srgbClr val="C00000"/>
                </a:solidFill>
              </a:rPr>
              <a:t>argc</a:t>
            </a:r>
            <a:r>
              <a:rPr lang="en-GB" b="1" dirty="0">
                <a:solidFill>
                  <a:srgbClr val="C00000"/>
                </a:solidFill>
              </a:rPr>
              <a:t>, char* </a:t>
            </a:r>
            <a:r>
              <a:rPr lang="en-GB" b="1" dirty="0" err="1">
                <a:solidFill>
                  <a:srgbClr val="C00000"/>
                </a:solidFill>
              </a:rPr>
              <a:t>argv</a:t>
            </a:r>
            <a:r>
              <a:rPr lang="en-GB" b="1" dirty="0">
                <a:solidFill>
                  <a:srgbClr val="C00000"/>
                </a:solidFill>
              </a:rPr>
              <a:t>[]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4EBBC-34C2-1DD2-DBF6-82679678D5D2}"/>
              </a:ext>
            </a:extLst>
          </p:cNvPr>
          <p:cNvSpPr txBox="1"/>
          <p:nvPr/>
        </p:nvSpPr>
        <p:spPr>
          <a:xfrm>
            <a:off x="928046" y="207268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50BA0-5927-7837-8706-4B3BF1C105B0}"/>
              </a:ext>
            </a:extLst>
          </p:cNvPr>
          <p:cNvSpPr txBox="1"/>
          <p:nvPr/>
        </p:nvSpPr>
        <p:spPr>
          <a:xfrm>
            <a:off x="1126292" y="235876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26B5E-8144-37D3-110F-085E5608ECBE}"/>
              </a:ext>
            </a:extLst>
          </p:cNvPr>
          <p:cNvSpPr txBox="1"/>
          <p:nvPr/>
        </p:nvSpPr>
        <p:spPr>
          <a:xfrm>
            <a:off x="1126288" y="303974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 (i=0; i&lt;argc;i++)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7F932-BBE1-687E-8600-6A2AFB0BCD0C}"/>
              </a:ext>
            </a:extLst>
          </p:cNvPr>
          <p:cNvSpPr txBox="1"/>
          <p:nvPr/>
        </p:nvSpPr>
        <p:spPr>
          <a:xfrm>
            <a:off x="1579374" y="3709472"/>
            <a:ext cx="328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printf("%s\n", argv[i]);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BF6E1-BEA8-7552-3B4D-170476D9DC0A}"/>
              </a:ext>
            </a:extLst>
          </p:cNvPr>
          <p:cNvSpPr txBox="1"/>
          <p:nvPr/>
        </p:nvSpPr>
        <p:spPr>
          <a:xfrm>
            <a:off x="928046" y="451703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E46F6-CC98-E47E-A842-0113FA869F1A}"/>
              </a:ext>
            </a:extLst>
          </p:cNvPr>
          <p:cNvSpPr txBox="1"/>
          <p:nvPr/>
        </p:nvSpPr>
        <p:spPr>
          <a:xfrm>
            <a:off x="1139933" y="4069747"/>
            <a:ext cx="465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39ECD-C347-2427-3254-4F1216860B7B}"/>
              </a:ext>
            </a:extLst>
          </p:cNvPr>
          <p:cNvSpPr txBox="1"/>
          <p:nvPr/>
        </p:nvSpPr>
        <p:spPr>
          <a:xfrm>
            <a:off x="1126289" y="336668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1B6A3-D638-17E5-C709-2B0CBAE02CB1}"/>
              </a:ext>
            </a:extLst>
          </p:cNvPr>
          <p:cNvSpPr txBox="1"/>
          <p:nvPr/>
        </p:nvSpPr>
        <p:spPr>
          <a:xfrm>
            <a:off x="1126288" y="2690239"/>
            <a:ext cx="620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("You have passed %d arguments\n", </a:t>
            </a:r>
            <a:r>
              <a:rPr lang="en-GB" dirty="0" err="1"/>
              <a:t>argc</a:t>
            </a:r>
            <a:r>
              <a:rPr lang="en-GB" dirty="0"/>
              <a:t>);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B6BA75-3EA7-17C7-21C4-1590E3701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575" y="2627421"/>
            <a:ext cx="5334000" cy="1847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30C3C7-07E8-9D3D-0B06-1B792952A36E}"/>
              </a:ext>
            </a:extLst>
          </p:cNvPr>
          <p:cNvSpPr txBox="1"/>
          <p:nvPr/>
        </p:nvSpPr>
        <p:spPr>
          <a:xfrm>
            <a:off x="6190784" y="2183662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15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2" grpId="0"/>
      <p:bldP spid="13" grpId="0"/>
      <p:bldP spid="14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2BE0A6-15FF-4CCA-8B35-BD3CE334D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5" name="Text Placeholder 1026">
            <a:extLst>
              <a:ext uri="{FF2B5EF4-FFF2-40B4-BE49-F238E27FC236}">
                <a16:creationId xmlns:a16="http://schemas.microsoft.com/office/drawing/2014/main" id="{508C39DE-82EA-4947-BA58-85EB27511A40}"/>
              </a:ext>
            </a:extLst>
          </p:cNvPr>
          <p:cNvSpPr txBox="1">
            <a:spLocks/>
          </p:cNvSpPr>
          <p:nvPr/>
        </p:nvSpPr>
        <p:spPr>
          <a:xfrm>
            <a:off x="2772358" y="0"/>
            <a:ext cx="4646358" cy="734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II)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5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6650</TotalTime>
  <Words>2561</Words>
  <Application>Microsoft Office PowerPoint</Application>
  <PresentationFormat>Widescreen</PresentationFormat>
  <Paragraphs>419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Roboto Condensed</vt:lpstr>
      <vt:lpstr>Roboto Condensed Light</vt:lpstr>
      <vt:lpstr>Segoe UI Black</vt:lpstr>
      <vt:lpstr>Webdings</vt:lpstr>
      <vt:lpstr>Wingdings</vt:lpstr>
      <vt:lpstr>Wingdings 2</vt:lpstr>
      <vt:lpstr>Wingdings 3</vt:lpstr>
      <vt:lpstr>Office Theme</vt:lpstr>
      <vt:lpstr>Unit-5 File Management</vt:lpstr>
      <vt:lpstr>PowerPoint Presentation</vt:lpstr>
      <vt:lpstr>Introduction of File Management</vt:lpstr>
      <vt:lpstr>File Management</vt:lpstr>
      <vt:lpstr>File Management (Conti…)</vt:lpstr>
      <vt:lpstr>File Handling Modes and File Opening and Closing Function</vt:lpstr>
      <vt:lpstr>File Operations</vt:lpstr>
      <vt:lpstr>File Pointer in C</vt:lpstr>
      <vt:lpstr>File Handling Modes</vt:lpstr>
      <vt:lpstr>File Handling Modes (Conti…)</vt:lpstr>
      <vt:lpstr>File Opening and Closing Function</vt:lpstr>
      <vt:lpstr>I/O operations on File</vt:lpstr>
      <vt:lpstr>1. fgetc() Function</vt:lpstr>
      <vt:lpstr>1. fgetc() Function (Conti…)</vt:lpstr>
      <vt:lpstr>2. fputc() Function</vt:lpstr>
      <vt:lpstr>2. fputc() Function (Conti…)</vt:lpstr>
      <vt:lpstr>3. putw() Function</vt:lpstr>
      <vt:lpstr>4. getw() Function</vt:lpstr>
      <vt:lpstr>Example of getw() and putw()</vt:lpstr>
      <vt:lpstr>5. fprintf() Function</vt:lpstr>
      <vt:lpstr>6. fscanf() Function</vt:lpstr>
      <vt:lpstr>Error Handling and Random access Functions</vt:lpstr>
      <vt:lpstr>Error Handling Functions</vt:lpstr>
      <vt:lpstr>Error Handling Functions (Conti…)</vt:lpstr>
      <vt:lpstr>Error Handling Functions (Conti…)</vt:lpstr>
      <vt:lpstr>Random Access Functions</vt:lpstr>
      <vt:lpstr>Random Access Functions</vt:lpstr>
      <vt:lpstr>Random Access Functions (Conti…)</vt:lpstr>
      <vt:lpstr>Random Access Functions (Conti…)</vt:lpstr>
      <vt:lpstr>Command Line Arguments</vt:lpstr>
      <vt:lpstr>Command Line Arguments</vt:lpstr>
      <vt:lpstr>Command Line Arguments (Conti…)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807</cp:revision>
  <dcterms:created xsi:type="dcterms:W3CDTF">2020-05-01T05:09:15Z</dcterms:created>
  <dcterms:modified xsi:type="dcterms:W3CDTF">2025-01-15T19:03:37Z</dcterms:modified>
</cp:coreProperties>
</file>